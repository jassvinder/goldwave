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fe32a53d-791b-77b6-807a-53d9d7977eca}">
          <p14:sldIdLst>
            <p14:sldId id="256"/>
          </p14:sldIdLst>
        </p14:section>
        <p14:section name="About GoldWave" id="{c277e819-fc4a-6325-9a2d-fc162a506796}">
          <p14:sldIdLst>
            <p14:sldId id="257"/>
          </p14:sldIdLst>
        </p14:section>
        <p14:section name="Plans" id="{90cb95f6-16a2-e1a4-e0ec-4ce9c2411c07}">
          <p14:sldIdLst>
            <p14:sldId id="258"/>
            <p14:sldId id="259"/>
          </p14:sldIdLst>
        </p14:section>
        <p14:section name="Joining &amp; EMIs" id="{e57add04-cf25-d351-72e1-c070673d4fe7}">
          <p14:sldIdLst>
            <p14:sldId id="260"/>
            <p14:sldId id="261"/>
          </p14:sldIdLst>
        </p14:section>
        <p14:section name="Rewards" id="{1e0a8dcc-c47a-9251-e04c-238c1c85fd01}">
          <p14:sldIdLst>
            <p14:sldId id="262"/>
            <p14:sldId id="263"/>
            <p14:sldId id="264"/>
            <p14:sldId id="265"/>
            <p14:sldId id="266"/>
            <p14:sldId id="267"/>
          </p14:sldIdLst>
        </p14:section>
        <p14:section name="Wallet &amp; Rules" id="{6652df12-3cb9-fcec-939c-de789cb5539b}">
          <p14:sldIdLst>
            <p14:sldId id="268"/>
            <p14:sldId id="269"/>
          </p14:sldIdLst>
        </p14:section>
        <p14:section name="Thank you" id="{8a844046-91d1-4548-349b-8fc6415c624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new member. This guide covers what GoldWave is, the six plans, how to join and pay, the ways to earn rewards, and the wallet and payout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to remember: real jewellery, easy instalments, and rewards that come from building 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plans give a fixed weight of jewellery. Direct plans are paid at once and the member chooses jewellery at the rate on the payment date. Silver Direct and Gold Direct have the same total value as Silver Start and Gold Rise — just paid upfront.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Rate: simple fixed EMIs, weight decided at delivery. Current Rate: weight and rate locked now, EMIs recalculated, needs company approval, and only the company can revert it — and only before the next EMI is paid. Making charges of that metal's current rate are added to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Membership becomes active only after the company approves the payment. Choosing Cash does not activate the account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pay only the earliest unpaid EMI — no skipping ahead — except Pay All Remaining, which clears everything in one payment. On Current Rate, the full payment is the remaining principal without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Qualified directs are the key number for almost every reward: Level Income levels, Pair milestones, the Draw sponsor bonus, Booster levels and store upline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Rates depend on the metal of the plan being paid. Income from members whose sponsor chain is shorter, or whose upline is inactive, is not paid to that upline.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Left/Right counts are new entries needed for that milestone — entries used for one milestone are not reused for the next. One month-end can pay several milestones if both entries and directs are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prizes are set by the company and may be changed per group and month. The company can also set more than one winner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Booster is checked when new members join. Each level qualifies once and then pays monthly for its duration even if the team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 income on your own purchase is always paid. The upline part needs 10 qualified directs; before that it is not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cannot withdraw directly — they submit a request and the company reviews every request. Paid payouts are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new members most often misunderstand. Go through each one before they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helping the member register with their sponsor code, and show them where to find the plan and EMI pages in the member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76656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r>
              <a:rPr lang="en-US" sz="4600" b="1" dirty="0">
                <a:solidFill>
                  <a:schemeClr val="bg1"/>
                </a:solidFill>
              </a:rPr>
              <a:t>Title</a:t>
            </a:r>
            <a:endParaRPr lang="en-US" sz="4600" dirty="0"/>
          </a:p>
        </p:txBody>
      </p:sp>
      <p:sp>
        <p:nvSpPr>
          <p:cNvPr id="3" name="Text 0"/>
          <p:cNvSpPr/>
          <p:nvPr>
            <p:ph idx="101" type="body" hasCustomPrompt="1"/>
          </p:nvPr>
        </p:nvSpPr>
        <p:spPr>
          <a:xfrm>
            <a:off x="548640" y="4023360"/>
            <a:ext cx="6400800" cy="914400"/>
          </a:xfrm>
          <a:prstGeom prst="rect">
            <a:avLst/>
          </a:prstGeom>
          <a:noFill/>
          <a:ln/>
        </p:spPr>
        <p:txBody>
          <a:bodyPr wrap="square" rtlCol="0"/>
          <a:lstStyle>
            <a:lvl1pPr indent="0" marL="0">
              <a:buNone/>
              <a:defRPr lang="en-US" sz="2000" dirty="0">
                <a:solidFill>
                  <a:srgbClr val="DDD6FE"/>
                </a:solidFill>
              </a:defRPr>
            </a:lvl1pPr>
          </a:lstStyle>
          <a:p>
            <a:pPr indent="0" marL="0">
              <a:buNone/>
            </a:pPr>
            <a:r>
              <a:rPr lang="en-US" sz="2000" dirty="0">
                <a:solidFill>
                  <a:srgbClr val="DDD6FE"/>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Title</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rtlCol="0"/>
          <a:lstStyle>
            <a:lvl1pPr indent="0" marL="0">
              <a:buNone/>
              <a:defRPr lang="en-US" sz="1600" dirty="0">
                <a:solidFill>
                  <a:schemeClr val="tx2"/>
                </a:solidFill>
              </a:defRPr>
            </a:lvl1pPr>
          </a:lstStyle>
          <a:p>
            <a:pPr indent="0" marL="0">
              <a:buNone/>
            </a:pPr>
            <a:r>
              <a:rPr lang="en-US" sz="1600" dirty="0">
                <a:solidFill>
                  <a:schemeClr val="tx2"/>
                </a:solidFill>
              </a:rPr>
              <a:t>Subtitle</a:t>
            </a: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4A3B8"/>
                </a:solidFill>
              </a:rPr>
              <a:t>GoldWave · Plan guide for new members · 02-10-2026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violet circle"/>
          <p:cNvSpPr/>
          <p:nvPr/>
        </p:nvSpPr>
        <p:spPr>
          <a:xfrm>
            <a:off x="7589520" y="-1097280"/>
            <a:ext cx="5669280" cy="5669280"/>
          </a:xfrm>
          <a:prstGeom prst="ellipse">
            <a:avLst/>
          </a:prstGeom>
          <a:solidFill>
            <a:schemeClr val="accent1">
              <a:alpha val="65000"/>
            </a:schemeClr>
          </a:solidFill>
          <a:ln/>
        </p:spPr>
      </p:sp>
      <p:sp>
        <p:nvSpPr>
          <p:cNvPr id="3" name="Decor pink circle"/>
          <p:cNvSpPr/>
          <p:nvPr/>
        </p:nvSpPr>
        <p:spPr>
          <a:xfrm>
            <a:off x="9326880" y="2834640"/>
            <a:ext cx="4206240" cy="4206240"/>
          </a:xfrm>
          <a:prstGeom prst="ellipse">
            <a:avLst/>
          </a:prstGeom>
          <a:solidFill>
            <a:schemeClr val="accent2">
              <a:alpha val="70000"/>
            </a:schemeClr>
          </a:solidFill>
          <a:ln/>
        </p:spPr>
      </p:sp>
      <p:sp>
        <p:nvSpPr>
          <p:cNvPr id="4" name="Decor gold circle"/>
          <p:cNvSpPr/>
          <p:nvPr/>
        </p:nvSpPr>
        <p:spPr>
          <a:xfrm>
            <a:off x="6949440" y="4114800"/>
            <a:ext cx="2377440" cy="2377440"/>
          </a:xfrm>
          <a:prstGeom prst="ellipse">
            <a:avLst/>
          </a:prstGeom>
          <a:solidFill>
            <a:schemeClr val="accent3">
              <a:alpha val="85000"/>
            </a:schemeClr>
          </a:solidFill>
          <a:ln/>
        </p:spPr>
      </p:sp>
      <p:pic>
        <p:nvPicPr>
          <p:cNvPr id="5" name="GoldWave logo" descr="GoldWave logo">    </p:cNvPr>
          <p:cNvPicPr>
            <a:picLocks noChangeAspect="1"/>
          </p:cNvPicPr>
          <p:nvPr/>
        </p:nvPicPr>
        <p:blipFill>
          <a:blip r:embed="rId1"/>
          <a:stretch>
            <a:fillRect/>
          </a:stretch>
        </p:blipFill>
        <p:spPr>
          <a:xfrm>
            <a:off x="548640" y="548640"/>
            <a:ext cx="1005840" cy="1005840"/>
          </a:xfrm>
          <a:prstGeom prst="ellipse">
            <a:avLst/>
          </a:prstGeom>
        </p:spPr>
      </p:pic>
      <p:sp>
        <p:nvSpPr>
          <p:cNvPr id="6" name="Brand name"/>
          <p:cNvSpPr txBox="1"/>
          <p:nvPr/>
        </p:nvSpPr>
        <p:spPr>
          <a:xfrm>
            <a:off x="1737360" y="777240"/>
            <a:ext cx="3657600" cy="548640"/>
          </a:xfrm>
          <a:prstGeom prst="rect">
            <a:avLst/>
          </a:prstGeom>
          <a:noFill/>
          <a:ln/>
        </p:spPr>
        <p:txBody>
          <a:bodyPr wrap="square" lIns="0" tIns="0" rIns="0" bIns="0" rtlCol="0" anchor="t"/>
          <a:lstStyle/>
          <a:p>
            <a:pPr indent="0" marL="0">
              <a:buNone/>
            </a:pPr>
            <a:r>
              <a:rPr lang="en-US" sz="2800" b="1" dirty="0">
                <a:solidFill>
                  <a:schemeClr val="accent3"/>
                </a:solidFill>
              </a:rPr>
              <a:t>GoldWave</a:t>
            </a:r>
            <a:endParaRPr lang="en-US" sz="2800" dirty="0"/>
          </a:p>
        </p:txBody>
      </p:sp>
      <p:sp>
        <p:nvSpPr>
          <p:cNvPr id="7" name="Text 0"/>
          <p:cNvSpPr/>
          <p:nvPr>
            <p:ph idx="100" type="title" hasCustomPrompt="1"/>
          </p:nvPr>
        </p:nvSpPr>
        <p:spPr>
          <a:xfrm>
            <a:off x="548640" y="2148840"/>
            <a:ext cx="6766560" cy="1737360"/>
          </a:xfrm>
          <a:prstGeom prst="rect">
            <a:avLst/>
          </a:prstGeom>
          <a:noFill/>
          <a:ln/>
        </p:spPr>
        <p:txBody>
          <a:bodyPr wrap="square" lIns="0" tIns="0" rIns="0" bIns="0" rtlCol="0" anchor="b"/>
          <a:lstStyle/>
          <a:p>
            <a:pPr algn="l" indent="0" marL="0">
              <a:buNone/>
            </a:pPr>
            <a:r>
              <a:rPr lang="en-US" sz="4600" b="1" dirty="0">
                <a:solidFill>
                  <a:schemeClr val="bg1"/>
                </a:solidFill>
              </a:rPr>
              <a:t>Your Gold &amp; Silver Jewellery Plan</a:t>
            </a:r>
            <a:endParaRPr lang="en-US" sz="4600" dirty="0"/>
          </a:p>
        </p:txBody>
      </p:sp>
      <p:sp>
        <p:nvSpPr>
          <p:cNvPr id="8" name="Text 0"/>
          <p:cNvSpPr/>
          <p:nvPr>
            <p:ph idx="101" type="body" hasCustomPrompt="1"/>
          </p:nvPr>
        </p:nvSpPr>
        <p:spPr>
          <a:xfrm>
            <a:off x="548640" y="4023360"/>
            <a:ext cx="6400800" cy="914400"/>
          </a:xfrm>
          <a:prstGeom prst="rect">
            <a:avLst/>
          </a:prstGeom>
          <a:noFill/>
          <a:ln/>
        </p:spPr>
        <p:txBody>
          <a:bodyPr wrap="square" lIns="0" tIns="0" rIns="0" bIns="0" rtlCol="0" anchor="t"/>
          <a:lstStyle/>
          <a:p>
            <a:pPr indent="0" marL="0">
              <a:buNone/>
            </a:pPr>
            <a:r>
              <a:rPr lang="en-US" sz="2000" dirty="0">
                <a:solidFill>
                  <a:srgbClr val="DDD6FE"/>
                </a:solidFill>
              </a:rPr>
              <a:t>A simple guide for new members — plans, payments and rewards</a:t>
            </a:r>
            <a:endParaRPr lang="en-US" sz="2000" dirty="0"/>
          </a:p>
        </p:txBody>
      </p:sp>
      <p:sp>
        <p:nvSpPr>
          <p:cNvPr id="9" name="Edition"/>
          <p:cNvSpPr txBox="1"/>
          <p:nvPr/>
        </p:nvSpPr>
        <p:spPr>
          <a:xfrm>
            <a:off x="548640" y="6035040"/>
            <a:ext cx="3657600" cy="320040"/>
          </a:xfrm>
          <a:prstGeom prst="rect">
            <a:avLst/>
          </a:prstGeom>
          <a:noFill/>
          <a:ln/>
        </p:spPr>
        <p:txBody>
          <a:bodyPr wrap="square" lIns="0" tIns="0" rIns="0" bIns="0" rtlCol="0" anchor="t"/>
          <a:lstStyle/>
          <a:p>
            <a:pPr indent="0" marL="0">
              <a:buNone/>
            </a:pPr>
            <a:r>
              <a:rPr lang="en-US" sz="1200" dirty="0">
                <a:solidFill>
                  <a:srgbClr val="A5B4FC"/>
                </a:solidFill>
              </a:rPr>
              <a:t>Edition 02-10-2026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What is GoldWave?</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A jewellery membership program: you pay in easy steps, you own real jewellery, and your team earns you rewards.</a:t>
            </a:r>
            <a:endParaRPr lang="en-US" sz="1600" dirty="0"/>
          </a:p>
        </p:txBody>
      </p:sp>
      <p:sp>
        <p:nvSpPr>
          <p:cNvPr id="4" name="Real jewellery card"/>
          <p:cNvSpPr/>
          <p:nvPr/>
        </p:nvSpPr>
        <p:spPr>
          <a:xfrm>
            <a:off x="548640" y="1783080"/>
            <a:ext cx="3454298" cy="3246120"/>
          </a:xfrm>
          <a:prstGeom prst="roundRect">
            <a:avLst>
              <a:gd name="adj" fmla="val 3380"/>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Real jewellery icon circle"/>
          <p:cNvSpPr/>
          <p:nvPr/>
        </p:nvSpPr>
        <p:spPr>
          <a:xfrm>
            <a:off x="914400" y="2103120"/>
            <a:ext cx="914400" cy="914400"/>
          </a:xfrm>
          <a:prstGeom prst="ellipse">
            <a:avLst/>
          </a:prstGeom>
          <a:solidFill>
            <a:schemeClr val="accent3"/>
          </a:solidFill>
          <a:ln/>
        </p:spPr>
      </p:sp>
      <p:pic>
        <p:nvPicPr>
          <p:cNvPr id="6" name="Real jewellery icon" descr="Real jewellery">    </p:cNvPr>
          <p:cNvPicPr>
            <a:picLocks noChangeAspect="1"/>
          </p:cNvPicPr>
          <p:nvPr/>
        </p:nvPicPr>
        <p:blipFill>
          <a:blip r:embed="rId1"/>
          <a:stretch>
            <a:fillRect/>
          </a:stretch>
        </p:blipFill>
        <p:spPr>
          <a:xfrm>
            <a:off x="1133856" y="2322576"/>
            <a:ext cx="475488" cy="475488"/>
          </a:xfrm>
          <a:prstGeom prst="rect">
            <a:avLst/>
          </a:prstGeom>
        </p:spPr>
      </p:pic>
      <p:sp>
        <p:nvSpPr>
          <p:cNvPr id="7" name="Text 4"/>
          <p:cNvSpPr txBox="1"/>
          <p:nvPr/>
        </p:nvSpPr>
        <p:spPr>
          <a:xfrm>
            <a:off x="914400" y="3246120"/>
            <a:ext cx="2722778" cy="457200"/>
          </a:xfrm>
          <a:prstGeom prst="rect">
            <a:avLst/>
          </a:prstGeom>
          <a:noFill/>
          <a:ln/>
        </p:spPr>
        <p:txBody>
          <a:bodyPr wrap="square" lIns="0" tIns="0" rIns="0" bIns="0" rtlCol="0" anchor="t"/>
          <a:lstStyle/>
          <a:p>
            <a:pPr indent="0" marL="0">
              <a:buNone/>
            </a:pPr>
            <a:r>
              <a:rPr lang="en-US" sz="2200" b="1" dirty="0">
                <a:solidFill>
                  <a:schemeClr val="tx1"/>
                </a:solidFill>
              </a:rPr>
              <a:t>Real jewellery</a:t>
            </a:r>
            <a:endParaRPr lang="en-US" sz="2200" dirty="0"/>
          </a:p>
        </p:txBody>
      </p:sp>
      <p:sp>
        <p:nvSpPr>
          <p:cNvPr id="8" name="Text 5"/>
          <p:cNvSpPr txBox="1"/>
          <p:nvPr/>
        </p:nvSpPr>
        <p:spPr>
          <a:xfrm>
            <a:off x="914400" y="3749040"/>
            <a:ext cx="2722778" cy="1097280"/>
          </a:xfrm>
          <a:prstGeom prst="rect">
            <a:avLst/>
          </a:prstGeom>
          <a:noFill/>
          <a:ln/>
        </p:spPr>
        <p:txBody>
          <a:bodyPr wrap="square" lIns="0" tIns="0" rIns="0" bIns="0" rtlCol="0" anchor="t"/>
          <a:lstStyle/>
          <a:p>
            <a:pPr indent="0" marL="0">
              <a:buNone/>
            </a:pPr>
            <a:r>
              <a:rPr lang="en-US" sz="1500" dirty="0">
                <a:solidFill>
                  <a:schemeClr val="tx2"/>
                </a:solidFill>
              </a:rPr>
              <a:t>Every plan ends in genuine gold or silver jewellery that you collect from a GoldWave store.</a:t>
            </a:r>
            <a:endParaRPr lang="en-US" sz="1500" dirty="0"/>
          </a:p>
        </p:txBody>
      </p:sp>
      <p:sp>
        <p:nvSpPr>
          <p:cNvPr id="9" name="Easy instalments card"/>
          <p:cNvSpPr/>
          <p:nvPr/>
        </p:nvSpPr>
        <p:spPr>
          <a:xfrm>
            <a:off x="4368698" y="1783080"/>
            <a:ext cx="3454298" cy="3246120"/>
          </a:xfrm>
          <a:prstGeom prst="roundRect">
            <a:avLst>
              <a:gd name="adj" fmla="val 3380"/>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0" name="Easy instalments icon circle"/>
          <p:cNvSpPr/>
          <p:nvPr/>
        </p:nvSpPr>
        <p:spPr>
          <a:xfrm>
            <a:off x="4734458" y="2103120"/>
            <a:ext cx="914400" cy="914400"/>
          </a:xfrm>
          <a:prstGeom prst="ellipse">
            <a:avLst/>
          </a:prstGeom>
          <a:solidFill>
            <a:schemeClr val="accent1"/>
          </a:solidFill>
          <a:ln/>
        </p:spPr>
      </p:sp>
      <p:pic>
        <p:nvPicPr>
          <p:cNvPr id="11" name="Easy instalments icon" descr="Easy instalments">    </p:cNvPr>
          <p:cNvPicPr>
            <a:picLocks noChangeAspect="1"/>
          </p:cNvPicPr>
          <p:nvPr/>
        </p:nvPicPr>
        <p:blipFill>
          <a:blip r:embed="rId2"/>
          <a:stretch>
            <a:fillRect/>
          </a:stretch>
        </p:blipFill>
        <p:spPr>
          <a:xfrm>
            <a:off x="4953914" y="2322576"/>
            <a:ext cx="475488" cy="475488"/>
          </a:xfrm>
          <a:prstGeom prst="rect">
            <a:avLst/>
          </a:prstGeom>
        </p:spPr>
      </p:pic>
      <p:sp>
        <p:nvSpPr>
          <p:cNvPr id="12" name="Text 8"/>
          <p:cNvSpPr txBox="1"/>
          <p:nvPr/>
        </p:nvSpPr>
        <p:spPr>
          <a:xfrm>
            <a:off x="4734458" y="3246120"/>
            <a:ext cx="2722778" cy="457200"/>
          </a:xfrm>
          <a:prstGeom prst="rect">
            <a:avLst/>
          </a:prstGeom>
          <a:noFill/>
          <a:ln/>
        </p:spPr>
        <p:txBody>
          <a:bodyPr wrap="square" lIns="0" tIns="0" rIns="0" bIns="0" rtlCol="0" anchor="t"/>
          <a:lstStyle/>
          <a:p>
            <a:pPr indent="0" marL="0">
              <a:buNone/>
            </a:pPr>
            <a:r>
              <a:rPr lang="en-US" sz="2200" b="1" dirty="0">
                <a:solidFill>
                  <a:schemeClr val="tx1"/>
                </a:solidFill>
              </a:rPr>
              <a:t>Easy instalments</a:t>
            </a:r>
            <a:endParaRPr lang="en-US" sz="2200" dirty="0"/>
          </a:p>
        </p:txBody>
      </p:sp>
      <p:sp>
        <p:nvSpPr>
          <p:cNvPr id="13" name="Text 9"/>
          <p:cNvSpPr txBox="1"/>
          <p:nvPr/>
        </p:nvSpPr>
        <p:spPr>
          <a:xfrm>
            <a:off x="4734458" y="3749040"/>
            <a:ext cx="2722778" cy="1097280"/>
          </a:xfrm>
          <a:prstGeom prst="rect">
            <a:avLst/>
          </a:prstGeom>
          <a:noFill/>
          <a:ln/>
        </p:spPr>
        <p:txBody>
          <a:bodyPr wrap="square" lIns="0" tIns="0" rIns="0" bIns="0" rtlCol="0" anchor="t"/>
          <a:lstStyle/>
          <a:p>
            <a:pPr indent="0" marL="0">
              <a:buNone/>
            </a:pPr>
            <a:r>
              <a:rPr lang="en-US" sz="1500" dirty="0">
                <a:solidFill>
                  <a:schemeClr val="tx2"/>
                </a:solidFill>
              </a:rPr>
              <a:t>Pay monthly in small EMIs, or pay once with a Direct plan. Cash or GPay / UPI.</a:t>
            </a:r>
            <a:endParaRPr lang="en-US" sz="1500" dirty="0"/>
          </a:p>
        </p:txBody>
      </p:sp>
      <p:sp>
        <p:nvSpPr>
          <p:cNvPr id="14" name="Team rewards card"/>
          <p:cNvSpPr/>
          <p:nvPr/>
        </p:nvSpPr>
        <p:spPr>
          <a:xfrm>
            <a:off x="8188757" y="1783080"/>
            <a:ext cx="3454298" cy="3246120"/>
          </a:xfrm>
          <a:prstGeom prst="roundRect">
            <a:avLst>
              <a:gd name="adj" fmla="val 3380"/>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5" name="Team rewards icon circle"/>
          <p:cNvSpPr/>
          <p:nvPr/>
        </p:nvSpPr>
        <p:spPr>
          <a:xfrm>
            <a:off x="8554517" y="2103120"/>
            <a:ext cx="914400" cy="914400"/>
          </a:xfrm>
          <a:prstGeom prst="ellipse">
            <a:avLst/>
          </a:prstGeom>
          <a:solidFill>
            <a:schemeClr val="accent2"/>
          </a:solidFill>
          <a:ln/>
        </p:spPr>
      </p:sp>
      <p:pic>
        <p:nvPicPr>
          <p:cNvPr id="16" name="Team rewards icon" descr="Team rewards">    </p:cNvPr>
          <p:cNvPicPr>
            <a:picLocks noChangeAspect="1"/>
          </p:cNvPicPr>
          <p:nvPr/>
        </p:nvPicPr>
        <p:blipFill>
          <a:blip r:embed="rId3"/>
          <a:stretch>
            <a:fillRect/>
          </a:stretch>
        </p:blipFill>
        <p:spPr>
          <a:xfrm>
            <a:off x="8773973" y="2322576"/>
            <a:ext cx="475488" cy="475488"/>
          </a:xfrm>
          <a:prstGeom prst="rect">
            <a:avLst/>
          </a:prstGeom>
        </p:spPr>
      </p:pic>
      <p:sp>
        <p:nvSpPr>
          <p:cNvPr id="17" name="Text 12"/>
          <p:cNvSpPr txBox="1"/>
          <p:nvPr/>
        </p:nvSpPr>
        <p:spPr>
          <a:xfrm>
            <a:off x="8554517" y="3246120"/>
            <a:ext cx="2722778" cy="457200"/>
          </a:xfrm>
          <a:prstGeom prst="rect">
            <a:avLst/>
          </a:prstGeom>
          <a:noFill/>
          <a:ln/>
        </p:spPr>
        <p:txBody>
          <a:bodyPr wrap="square" lIns="0" tIns="0" rIns="0" bIns="0" rtlCol="0" anchor="t"/>
          <a:lstStyle/>
          <a:p>
            <a:pPr indent="0" marL="0">
              <a:buNone/>
            </a:pPr>
            <a:r>
              <a:rPr lang="en-US" sz="2200" b="1" dirty="0">
                <a:solidFill>
                  <a:schemeClr val="tx1"/>
                </a:solidFill>
              </a:rPr>
              <a:t>Team rewards</a:t>
            </a:r>
            <a:endParaRPr lang="en-US" sz="2200" dirty="0"/>
          </a:p>
        </p:txBody>
      </p:sp>
      <p:sp>
        <p:nvSpPr>
          <p:cNvPr id="18" name="Text 13"/>
          <p:cNvSpPr txBox="1"/>
          <p:nvPr/>
        </p:nvSpPr>
        <p:spPr>
          <a:xfrm>
            <a:off x="8554517" y="3749040"/>
            <a:ext cx="2722778" cy="1097280"/>
          </a:xfrm>
          <a:prstGeom prst="rect">
            <a:avLst/>
          </a:prstGeom>
          <a:noFill/>
          <a:ln/>
        </p:spPr>
        <p:txBody>
          <a:bodyPr wrap="square" lIns="0" tIns="0" rIns="0" bIns="0" rtlCol="0" anchor="t"/>
          <a:lstStyle/>
          <a:p>
            <a:pPr indent="0" marL="0">
              <a:buNone/>
            </a:pPr>
            <a:r>
              <a:rPr lang="en-US" sz="1500" dirty="0">
                <a:solidFill>
                  <a:schemeClr val="tx2"/>
                </a:solidFill>
              </a:rPr>
              <a:t>Introduce friends and family. As your team grows, you can earn Level, Pair, Draw and Booster rewards.</a:t>
            </a:r>
            <a:endParaRPr lang="en-US" sz="1500" dirty="0"/>
          </a:p>
        </p:txBody>
      </p:sp>
      <p:sp>
        <p:nvSpPr>
          <p:cNvPr id="19" name="Note band"/>
          <p:cNvSpPr/>
          <p:nvPr/>
        </p:nvSpPr>
        <p:spPr>
          <a:xfrm>
            <a:off x="548640" y="5349240"/>
            <a:ext cx="11094415" cy="731520"/>
          </a:xfrm>
          <a:prstGeom prst="roundRect">
            <a:avLst>
              <a:gd name="adj" fmla="val 15000"/>
            </a:avLst>
          </a:prstGeom>
          <a:solidFill>
            <a:schemeClr val="bg2"/>
          </a:solidFill>
          <a:ln/>
        </p:spPr>
      </p:sp>
      <p:sp>
        <p:nvSpPr>
          <p:cNvPr id="20" name="Note icon circle"/>
          <p:cNvSpPr/>
          <p:nvPr/>
        </p:nvSpPr>
        <p:spPr>
          <a:xfrm>
            <a:off x="731520" y="5468112"/>
            <a:ext cx="502920" cy="502920"/>
          </a:xfrm>
          <a:prstGeom prst="ellipse">
            <a:avLst/>
          </a:prstGeom>
          <a:solidFill>
            <a:schemeClr val="accent4"/>
          </a:solidFill>
          <a:ln/>
        </p:spPr>
      </p:sp>
      <p:pic>
        <p:nvPicPr>
          <p:cNvPr id="21" name="Note icon" descr="Note">    </p:cNvPr>
          <p:cNvPicPr>
            <a:picLocks noChangeAspect="1"/>
          </p:cNvPicPr>
          <p:nvPr/>
        </p:nvPicPr>
        <p:blipFill>
          <a:blip r:embed="rId4"/>
          <a:stretch>
            <a:fillRect/>
          </a:stretch>
        </p:blipFill>
        <p:spPr>
          <a:xfrm>
            <a:off x="852221" y="5588813"/>
            <a:ext cx="261518" cy="261518"/>
          </a:xfrm>
          <a:prstGeom prst="rect">
            <a:avLst/>
          </a:prstGeom>
        </p:spPr>
      </p:pic>
      <p:sp>
        <p:nvSpPr>
          <p:cNvPr id="22" name="Text 16"/>
          <p:cNvSpPr txBox="1"/>
          <p:nvPr/>
        </p:nvSpPr>
        <p:spPr>
          <a:xfrm>
            <a:off x="1417320" y="5349240"/>
            <a:ext cx="9997135" cy="731520"/>
          </a:xfrm>
          <a:prstGeom prst="rect">
            <a:avLst/>
          </a:prstGeom>
          <a:noFill/>
          <a:ln/>
        </p:spPr>
        <p:txBody>
          <a:bodyPr wrap="square" lIns="0" tIns="0" rIns="0" bIns="0" rtlCol="0" anchor="ctr"/>
          <a:lstStyle/>
          <a:p>
            <a:pPr indent="0" marL="0">
              <a:buNone/>
            </a:pPr>
            <a:r>
              <a:rPr lang="en-US" sz="1600" b="1" dirty="0">
                <a:solidFill>
                  <a:schemeClr val="tx1"/>
                </a:solidFill>
              </a:rPr>
              <a:t>Every plan benefit is a jewellery item — not coins, bars or cash.</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Choose your plan</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Four monthly EMI plans with a fixed jewellery weight, and two one-time Direct plans.</a:t>
            </a:r>
            <a:endParaRPr lang="en-US" sz="1600" dirty="0"/>
          </a:p>
        </p:txBody>
      </p:sp>
      <p:sp>
        <p:nvSpPr>
          <p:cNvPr id="4" name="Silver Start card"/>
          <p:cNvSpPr/>
          <p:nvPr/>
        </p:nvSpPr>
        <p:spPr>
          <a:xfrm>
            <a:off x="548640" y="1691640"/>
            <a:ext cx="3515258"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Silver Start header"/>
          <p:cNvSpPr/>
          <p:nvPr/>
        </p:nvSpPr>
        <p:spPr>
          <a:xfrm>
            <a:off x="548640" y="1691640"/>
            <a:ext cx="3515258" cy="685800"/>
          </a:xfrm>
          <a:prstGeom prst="roundRect">
            <a:avLst>
              <a:gd name="adj" fmla="val 16000"/>
            </a:avLst>
          </a:prstGeom>
          <a:solidFill>
            <a:schemeClr val="accent6"/>
          </a:solidFill>
          <a:ln/>
        </p:spPr>
      </p:sp>
      <p:sp>
        <p:nvSpPr>
          <p:cNvPr id="6" name="Silver Start header base"/>
          <p:cNvSpPr/>
          <p:nvPr/>
        </p:nvSpPr>
        <p:spPr>
          <a:xfrm>
            <a:off x="548640" y="2148840"/>
            <a:ext cx="3515258" cy="228600"/>
          </a:xfrm>
          <a:prstGeom prst="rect">
            <a:avLst/>
          </a:prstGeom>
          <a:solidFill>
            <a:schemeClr val="accent6"/>
          </a:solidFill>
          <a:ln/>
        </p:spPr>
      </p:sp>
      <p:sp>
        <p:nvSpPr>
          <p:cNvPr id="7" name="Text 5"/>
          <p:cNvSpPr txBox="1"/>
          <p:nvPr/>
        </p:nvSpPr>
        <p:spPr>
          <a:xfrm>
            <a:off x="822960" y="1691640"/>
            <a:ext cx="2417978" cy="685800"/>
          </a:xfrm>
          <a:prstGeom prst="rect">
            <a:avLst/>
          </a:prstGeom>
          <a:noFill/>
          <a:ln/>
        </p:spPr>
        <p:txBody>
          <a:bodyPr wrap="square" lIns="0" tIns="0" rIns="0" bIns="0" rtlCol="0" anchor="ctr"/>
          <a:lstStyle/>
          <a:p>
            <a:pPr indent="0" marL="0">
              <a:buNone/>
            </a:pPr>
            <a:r>
              <a:rPr lang="en-US" sz="2000" b="1" dirty="0">
                <a:solidFill>
                  <a:schemeClr val="bg1"/>
                </a:solidFill>
              </a:rPr>
              <a:t>Silver Start</a:t>
            </a:r>
            <a:endParaRPr lang="en-US" sz="2000" dirty="0"/>
          </a:p>
        </p:txBody>
      </p:sp>
      <p:sp>
        <p:nvSpPr>
          <p:cNvPr id="8" name="Text 6"/>
          <p:cNvSpPr txBox="1"/>
          <p:nvPr/>
        </p:nvSpPr>
        <p:spPr>
          <a:xfrm>
            <a:off x="2966618" y="1691640"/>
            <a:ext cx="822960" cy="685800"/>
          </a:xfrm>
          <a:prstGeom prst="rect">
            <a:avLst/>
          </a:prstGeom>
          <a:noFill/>
          <a:ln/>
        </p:spPr>
        <p:txBody>
          <a:bodyPr wrap="square" lIns="0" tIns="0" rIns="0" bIns="0" rtlCol="0" anchor="ctr"/>
          <a:lstStyle/>
          <a:p>
            <a:pPr algn="r" indent="0" marL="0">
              <a:buNone/>
            </a:pPr>
            <a:r>
              <a:rPr lang="en-US" sz="1100" b="1" spc="200" kern="0" dirty="0">
                <a:solidFill>
                  <a:schemeClr val="bg1"/>
                </a:solidFill>
              </a:rPr>
              <a:t>SILVER</a:t>
            </a:r>
            <a:endParaRPr lang="en-US" sz="1100" dirty="0"/>
          </a:p>
        </p:txBody>
      </p:sp>
      <p:sp>
        <p:nvSpPr>
          <p:cNvPr id="9" name="Text 7"/>
          <p:cNvSpPr txBox="1"/>
          <p:nvPr/>
        </p:nvSpPr>
        <p:spPr>
          <a:xfrm>
            <a:off x="822960" y="2496312"/>
            <a:ext cx="2966618" cy="457200"/>
          </a:xfrm>
          <a:prstGeom prst="rect">
            <a:avLst/>
          </a:prstGeom>
          <a:noFill/>
          <a:ln/>
        </p:spPr>
        <p:txBody>
          <a:bodyPr wrap="square" lIns="0" tIns="0" rIns="0" bIns="0" rtlCol="0" anchor="t"/>
          <a:lstStyle/>
          <a:p>
            <a:pPr indent="0" marL="0">
              <a:buNone/>
            </a:pPr>
            <a:r>
              <a:rPr lang="en-US" sz="2600" b="1" dirty="0">
                <a:solidFill>
                  <a:schemeClr val="tx1"/>
                </a:solidFill>
              </a:rPr>
              <a:t>₹1,000</a:t>
            </a:r>
            <a:pPr indent="0" marL="0">
              <a:buNone/>
            </a:pPr>
            <a:r>
              <a:rPr lang="en-US" sz="1300" dirty="0">
                <a:solidFill>
                  <a:schemeClr val="tx2"/>
                </a:solidFill>
              </a:rPr>
              <a:t>  per month × 20</a:t>
            </a:r>
            <a:endParaRPr lang="en-US" sz="2600" dirty="0"/>
          </a:p>
        </p:txBody>
      </p:sp>
      <p:sp>
        <p:nvSpPr>
          <p:cNvPr id="10" name="Text 8"/>
          <p:cNvSpPr txBox="1"/>
          <p:nvPr/>
        </p:nvSpPr>
        <p:spPr>
          <a:xfrm>
            <a:off x="822960" y="2953512"/>
            <a:ext cx="2966618" cy="274320"/>
          </a:xfrm>
          <a:prstGeom prst="rect">
            <a:avLst/>
          </a:prstGeom>
          <a:noFill/>
          <a:ln/>
        </p:spPr>
        <p:txBody>
          <a:bodyPr wrap="square" lIns="0" tIns="0" rIns="0" bIns="0" rtlCol="0" anchor="t"/>
          <a:lstStyle/>
          <a:p>
            <a:pPr indent="0" marL="0">
              <a:buNone/>
            </a:pPr>
            <a:r>
              <a:rPr lang="en-US" sz="1200" dirty="0">
                <a:solidFill>
                  <a:schemeClr val="tx2"/>
                </a:solidFill>
              </a:rPr>
              <a:t>Total ₹20,000</a:t>
            </a:r>
            <a:endParaRPr lang="en-US" sz="1200" dirty="0"/>
          </a:p>
        </p:txBody>
      </p:sp>
      <p:sp>
        <p:nvSpPr>
          <p:cNvPr id="11" name="Text 9"/>
          <p:cNvSpPr txBox="1"/>
          <p:nvPr/>
        </p:nvSpPr>
        <p:spPr>
          <a:xfrm>
            <a:off x="822960" y="3246120"/>
            <a:ext cx="2966618" cy="457200"/>
          </a:xfrm>
          <a:prstGeom prst="rect">
            <a:avLst/>
          </a:prstGeom>
          <a:noFill/>
          <a:ln/>
        </p:spPr>
        <p:txBody>
          <a:bodyPr wrap="square" lIns="0" tIns="0" rIns="0" bIns="0" rtlCol="0" anchor="t"/>
          <a:lstStyle/>
          <a:p>
            <a:pPr indent="0" marL="0">
              <a:buNone/>
            </a:pPr>
            <a:r>
              <a:rPr lang="en-US" sz="1300" b="1" dirty="0">
                <a:solidFill>
                  <a:schemeClr val="accent6"/>
                </a:solidFill>
              </a:rPr>
              <a:t>100 gm Silver Jewellery</a:t>
            </a:r>
            <a:endParaRPr lang="en-US" sz="1300" dirty="0"/>
          </a:p>
        </p:txBody>
      </p:sp>
      <p:sp>
        <p:nvSpPr>
          <p:cNvPr id="12" name="Silver Prime card"/>
          <p:cNvSpPr/>
          <p:nvPr/>
        </p:nvSpPr>
        <p:spPr>
          <a:xfrm>
            <a:off x="4338218" y="1691640"/>
            <a:ext cx="3515258"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3" name="Silver Prime header"/>
          <p:cNvSpPr/>
          <p:nvPr/>
        </p:nvSpPr>
        <p:spPr>
          <a:xfrm>
            <a:off x="4338218" y="1691640"/>
            <a:ext cx="3515258" cy="685800"/>
          </a:xfrm>
          <a:prstGeom prst="roundRect">
            <a:avLst>
              <a:gd name="adj" fmla="val 16000"/>
            </a:avLst>
          </a:prstGeom>
          <a:solidFill>
            <a:schemeClr val="accent6"/>
          </a:solidFill>
          <a:ln/>
        </p:spPr>
      </p:sp>
      <p:sp>
        <p:nvSpPr>
          <p:cNvPr id="14" name="Silver Prime header base"/>
          <p:cNvSpPr/>
          <p:nvPr/>
        </p:nvSpPr>
        <p:spPr>
          <a:xfrm>
            <a:off x="4338218" y="2148840"/>
            <a:ext cx="3515258" cy="228600"/>
          </a:xfrm>
          <a:prstGeom prst="rect">
            <a:avLst/>
          </a:prstGeom>
          <a:solidFill>
            <a:schemeClr val="accent6"/>
          </a:solidFill>
          <a:ln/>
        </p:spPr>
      </p:sp>
      <p:sp>
        <p:nvSpPr>
          <p:cNvPr id="15" name="Text 13"/>
          <p:cNvSpPr txBox="1"/>
          <p:nvPr/>
        </p:nvSpPr>
        <p:spPr>
          <a:xfrm>
            <a:off x="4612538" y="1691640"/>
            <a:ext cx="2417978" cy="685800"/>
          </a:xfrm>
          <a:prstGeom prst="rect">
            <a:avLst/>
          </a:prstGeom>
          <a:noFill/>
          <a:ln/>
        </p:spPr>
        <p:txBody>
          <a:bodyPr wrap="square" lIns="0" tIns="0" rIns="0" bIns="0" rtlCol="0" anchor="ctr"/>
          <a:lstStyle/>
          <a:p>
            <a:pPr indent="0" marL="0">
              <a:buNone/>
            </a:pPr>
            <a:r>
              <a:rPr lang="en-US" sz="2000" b="1" dirty="0">
                <a:solidFill>
                  <a:schemeClr val="bg1"/>
                </a:solidFill>
              </a:rPr>
              <a:t>Silver Prime</a:t>
            </a:r>
            <a:endParaRPr lang="en-US" sz="2000" dirty="0"/>
          </a:p>
        </p:txBody>
      </p:sp>
      <p:sp>
        <p:nvSpPr>
          <p:cNvPr id="16" name="Text 14"/>
          <p:cNvSpPr txBox="1"/>
          <p:nvPr/>
        </p:nvSpPr>
        <p:spPr>
          <a:xfrm>
            <a:off x="6756197" y="1691640"/>
            <a:ext cx="822960" cy="685800"/>
          </a:xfrm>
          <a:prstGeom prst="rect">
            <a:avLst/>
          </a:prstGeom>
          <a:noFill/>
          <a:ln/>
        </p:spPr>
        <p:txBody>
          <a:bodyPr wrap="square" lIns="0" tIns="0" rIns="0" bIns="0" rtlCol="0" anchor="ctr"/>
          <a:lstStyle/>
          <a:p>
            <a:pPr algn="r" indent="0" marL="0">
              <a:buNone/>
            </a:pPr>
            <a:r>
              <a:rPr lang="en-US" sz="1100" b="1" spc="200" kern="0" dirty="0">
                <a:solidFill>
                  <a:schemeClr val="bg1"/>
                </a:solidFill>
              </a:rPr>
              <a:t>SILVER</a:t>
            </a:r>
            <a:endParaRPr lang="en-US" sz="1100" dirty="0"/>
          </a:p>
        </p:txBody>
      </p:sp>
      <p:sp>
        <p:nvSpPr>
          <p:cNvPr id="17" name="Text 15"/>
          <p:cNvSpPr txBox="1"/>
          <p:nvPr/>
        </p:nvSpPr>
        <p:spPr>
          <a:xfrm>
            <a:off x="4612538" y="2496312"/>
            <a:ext cx="2966618" cy="457200"/>
          </a:xfrm>
          <a:prstGeom prst="rect">
            <a:avLst/>
          </a:prstGeom>
          <a:noFill/>
          <a:ln/>
        </p:spPr>
        <p:txBody>
          <a:bodyPr wrap="square" lIns="0" tIns="0" rIns="0" bIns="0" rtlCol="0" anchor="t"/>
          <a:lstStyle/>
          <a:p>
            <a:pPr indent="0" marL="0">
              <a:buNone/>
            </a:pPr>
            <a:r>
              <a:rPr lang="en-US" sz="2600" b="1" dirty="0">
                <a:solidFill>
                  <a:schemeClr val="tx1"/>
                </a:solidFill>
              </a:rPr>
              <a:t>₹3,000</a:t>
            </a:r>
            <a:pPr indent="0" marL="0">
              <a:buNone/>
            </a:pPr>
            <a:r>
              <a:rPr lang="en-US" sz="1300" dirty="0">
                <a:solidFill>
                  <a:schemeClr val="tx2"/>
                </a:solidFill>
              </a:rPr>
              <a:t>  per month × 10</a:t>
            </a:r>
            <a:endParaRPr lang="en-US" sz="2600" dirty="0"/>
          </a:p>
        </p:txBody>
      </p:sp>
      <p:sp>
        <p:nvSpPr>
          <p:cNvPr id="18" name="Text 16"/>
          <p:cNvSpPr txBox="1"/>
          <p:nvPr/>
        </p:nvSpPr>
        <p:spPr>
          <a:xfrm>
            <a:off x="4612538" y="2953512"/>
            <a:ext cx="2966618" cy="274320"/>
          </a:xfrm>
          <a:prstGeom prst="rect">
            <a:avLst/>
          </a:prstGeom>
          <a:noFill/>
          <a:ln/>
        </p:spPr>
        <p:txBody>
          <a:bodyPr wrap="square" lIns="0" tIns="0" rIns="0" bIns="0" rtlCol="0" anchor="t"/>
          <a:lstStyle/>
          <a:p>
            <a:pPr indent="0" marL="0">
              <a:buNone/>
            </a:pPr>
            <a:r>
              <a:rPr lang="en-US" sz="1200" dirty="0">
                <a:solidFill>
                  <a:schemeClr val="tx2"/>
                </a:solidFill>
              </a:rPr>
              <a:t>Total ₹30,000</a:t>
            </a:r>
            <a:endParaRPr lang="en-US" sz="1200" dirty="0"/>
          </a:p>
        </p:txBody>
      </p:sp>
      <p:sp>
        <p:nvSpPr>
          <p:cNvPr id="19" name="Text 17"/>
          <p:cNvSpPr txBox="1"/>
          <p:nvPr/>
        </p:nvSpPr>
        <p:spPr>
          <a:xfrm>
            <a:off x="4612538" y="3246120"/>
            <a:ext cx="2966618" cy="457200"/>
          </a:xfrm>
          <a:prstGeom prst="rect">
            <a:avLst/>
          </a:prstGeom>
          <a:noFill/>
          <a:ln/>
        </p:spPr>
        <p:txBody>
          <a:bodyPr wrap="square" lIns="0" tIns="0" rIns="0" bIns="0" rtlCol="0" anchor="t"/>
          <a:lstStyle/>
          <a:p>
            <a:pPr indent="0" marL="0">
              <a:buNone/>
            </a:pPr>
            <a:r>
              <a:rPr lang="en-US" sz="1300" b="1" dirty="0">
                <a:solidFill>
                  <a:schemeClr val="accent6"/>
                </a:solidFill>
              </a:rPr>
              <a:t>100 gm Silver Jewellery</a:t>
            </a:r>
            <a:endParaRPr lang="en-US" sz="1300" dirty="0"/>
          </a:p>
        </p:txBody>
      </p:sp>
      <p:sp>
        <p:nvSpPr>
          <p:cNvPr id="20" name="Gold Rise card"/>
          <p:cNvSpPr/>
          <p:nvPr/>
        </p:nvSpPr>
        <p:spPr>
          <a:xfrm>
            <a:off x="8127797" y="1691640"/>
            <a:ext cx="3515258"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1" name="Gold Rise header"/>
          <p:cNvSpPr/>
          <p:nvPr/>
        </p:nvSpPr>
        <p:spPr>
          <a:xfrm>
            <a:off x="8127797" y="1691640"/>
            <a:ext cx="3515258" cy="685800"/>
          </a:xfrm>
          <a:prstGeom prst="roundRect">
            <a:avLst>
              <a:gd name="adj" fmla="val 16000"/>
            </a:avLst>
          </a:prstGeom>
          <a:solidFill>
            <a:schemeClr val="accent3"/>
          </a:solidFill>
          <a:ln/>
        </p:spPr>
      </p:sp>
      <p:sp>
        <p:nvSpPr>
          <p:cNvPr id="22" name="Gold Rise header base"/>
          <p:cNvSpPr/>
          <p:nvPr/>
        </p:nvSpPr>
        <p:spPr>
          <a:xfrm>
            <a:off x="8127797" y="2148840"/>
            <a:ext cx="3515258" cy="228600"/>
          </a:xfrm>
          <a:prstGeom prst="rect">
            <a:avLst/>
          </a:prstGeom>
          <a:solidFill>
            <a:schemeClr val="accent3"/>
          </a:solidFill>
          <a:ln/>
        </p:spPr>
      </p:sp>
      <p:sp>
        <p:nvSpPr>
          <p:cNvPr id="23" name="Text 21"/>
          <p:cNvSpPr txBox="1"/>
          <p:nvPr/>
        </p:nvSpPr>
        <p:spPr>
          <a:xfrm>
            <a:off x="8402117" y="1691640"/>
            <a:ext cx="2417978" cy="685800"/>
          </a:xfrm>
          <a:prstGeom prst="rect">
            <a:avLst/>
          </a:prstGeom>
          <a:noFill/>
          <a:ln/>
        </p:spPr>
        <p:txBody>
          <a:bodyPr wrap="square" lIns="0" tIns="0" rIns="0" bIns="0" rtlCol="0" anchor="ctr"/>
          <a:lstStyle/>
          <a:p>
            <a:pPr indent="0" marL="0">
              <a:buNone/>
            </a:pPr>
            <a:r>
              <a:rPr lang="en-US" sz="2000" b="1" dirty="0">
                <a:solidFill>
                  <a:schemeClr val="bg1"/>
                </a:solidFill>
              </a:rPr>
              <a:t>Gold Rise</a:t>
            </a:r>
            <a:endParaRPr lang="en-US" sz="2000" dirty="0"/>
          </a:p>
        </p:txBody>
      </p:sp>
      <p:sp>
        <p:nvSpPr>
          <p:cNvPr id="24" name="Text 22"/>
          <p:cNvSpPr txBox="1"/>
          <p:nvPr/>
        </p:nvSpPr>
        <p:spPr>
          <a:xfrm>
            <a:off x="10545775" y="1691640"/>
            <a:ext cx="822960" cy="685800"/>
          </a:xfrm>
          <a:prstGeom prst="rect">
            <a:avLst/>
          </a:prstGeom>
          <a:noFill/>
          <a:ln/>
        </p:spPr>
        <p:txBody>
          <a:bodyPr wrap="square" lIns="0" tIns="0" rIns="0" bIns="0" rtlCol="0" anchor="ctr"/>
          <a:lstStyle/>
          <a:p>
            <a:pPr algn="r" indent="0" marL="0">
              <a:buNone/>
            </a:pPr>
            <a:r>
              <a:rPr lang="en-US" sz="1100" b="1" spc="200" kern="0" dirty="0">
                <a:solidFill>
                  <a:schemeClr val="bg1"/>
                </a:solidFill>
              </a:rPr>
              <a:t>GOLD</a:t>
            </a:r>
            <a:endParaRPr lang="en-US" sz="1100" dirty="0"/>
          </a:p>
        </p:txBody>
      </p:sp>
      <p:sp>
        <p:nvSpPr>
          <p:cNvPr id="25" name="Text 23"/>
          <p:cNvSpPr txBox="1"/>
          <p:nvPr/>
        </p:nvSpPr>
        <p:spPr>
          <a:xfrm>
            <a:off x="8402117" y="2496312"/>
            <a:ext cx="2966618" cy="457200"/>
          </a:xfrm>
          <a:prstGeom prst="rect">
            <a:avLst/>
          </a:prstGeom>
          <a:noFill/>
          <a:ln/>
        </p:spPr>
        <p:txBody>
          <a:bodyPr wrap="square" lIns="0" tIns="0" rIns="0" bIns="0" rtlCol="0" anchor="t"/>
          <a:lstStyle/>
          <a:p>
            <a:pPr indent="0" marL="0">
              <a:buNone/>
            </a:pPr>
            <a:r>
              <a:rPr lang="en-US" sz="2600" b="1" dirty="0">
                <a:solidFill>
                  <a:schemeClr val="tx1"/>
                </a:solidFill>
              </a:rPr>
              <a:t>₹5,000</a:t>
            </a:r>
            <a:pPr indent="0" marL="0">
              <a:buNone/>
            </a:pPr>
            <a:r>
              <a:rPr lang="en-US" sz="1300" dirty="0">
                <a:solidFill>
                  <a:schemeClr val="tx2"/>
                </a:solidFill>
              </a:rPr>
              <a:t>  per month × 10</a:t>
            </a:r>
            <a:endParaRPr lang="en-US" sz="2600" dirty="0"/>
          </a:p>
        </p:txBody>
      </p:sp>
      <p:sp>
        <p:nvSpPr>
          <p:cNvPr id="26" name="Text 24"/>
          <p:cNvSpPr txBox="1"/>
          <p:nvPr/>
        </p:nvSpPr>
        <p:spPr>
          <a:xfrm>
            <a:off x="8402117" y="2953512"/>
            <a:ext cx="2966618" cy="274320"/>
          </a:xfrm>
          <a:prstGeom prst="rect">
            <a:avLst/>
          </a:prstGeom>
          <a:noFill/>
          <a:ln/>
        </p:spPr>
        <p:txBody>
          <a:bodyPr wrap="square" lIns="0" tIns="0" rIns="0" bIns="0" rtlCol="0" anchor="t"/>
          <a:lstStyle/>
          <a:p>
            <a:pPr indent="0" marL="0">
              <a:buNone/>
            </a:pPr>
            <a:r>
              <a:rPr lang="en-US" sz="1200" dirty="0">
                <a:solidFill>
                  <a:schemeClr val="tx2"/>
                </a:solidFill>
              </a:rPr>
              <a:t>Total ₹50,000</a:t>
            </a:r>
            <a:endParaRPr lang="en-US" sz="1200" dirty="0"/>
          </a:p>
        </p:txBody>
      </p:sp>
      <p:sp>
        <p:nvSpPr>
          <p:cNvPr id="27" name="Text 25"/>
          <p:cNvSpPr txBox="1"/>
          <p:nvPr/>
        </p:nvSpPr>
        <p:spPr>
          <a:xfrm>
            <a:off x="8402117" y="3246120"/>
            <a:ext cx="2966618" cy="457200"/>
          </a:xfrm>
          <a:prstGeom prst="rect">
            <a:avLst/>
          </a:prstGeom>
          <a:noFill/>
          <a:ln/>
        </p:spPr>
        <p:txBody>
          <a:bodyPr wrap="square" lIns="0" tIns="0" rIns="0" bIns="0" rtlCol="0" anchor="t"/>
          <a:lstStyle/>
          <a:p>
            <a:pPr indent="0" marL="0">
              <a:buNone/>
            </a:pPr>
            <a:r>
              <a:rPr lang="en-US" sz="1300" b="1" dirty="0">
                <a:solidFill>
                  <a:srgbClr val="B45309"/>
                </a:solidFill>
              </a:rPr>
              <a:t>5 gm Gold Jewellery</a:t>
            </a:r>
            <a:endParaRPr lang="en-US" sz="1300" dirty="0"/>
          </a:p>
        </p:txBody>
      </p:sp>
      <p:sp>
        <p:nvSpPr>
          <p:cNvPr id="28" name="Gold Elite card"/>
          <p:cNvSpPr/>
          <p:nvPr/>
        </p:nvSpPr>
        <p:spPr>
          <a:xfrm>
            <a:off x="548640" y="4069080"/>
            <a:ext cx="3515258"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9" name="Gold Elite header"/>
          <p:cNvSpPr/>
          <p:nvPr/>
        </p:nvSpPr>
        <p:spPr>
          <a:xfrm>
            <a:off x="548640" y="4069080"/>
            <a:ext cx="3515258" cy="685800"/>
          </a:xfrm>
          <a:prstGeom prst="roundRect">
            <a:avLst>
              <a:gd name="adj" fmla="val 16000"/>
            </a:avLst>
          </a:prstGeom>
          <a:solidFill>
            <a:schemeClr val="accent3"/>
          </a:solidFill>
          <a:ln/>
        </p:spPr>
      </p:sp>
      <p:sp>
        <p:nvSpPr>
          <p:cNvPr id="30" name="Gold Elite header base"/>
          <p:cNvSpPr/>
          <p:nvPr/>
        </p:nvSpPr>
        <p:spPr>
          <a:xfrm>
            <a:off x="548640" y="4526280"/>
            <a:ext cx="3515258" cy="228600"/>
          </a:xfrm>
          <a:prstGeom prst="rect">
            <a:avLst/>
          </a:prstGeom>
          <a:solidFill>
            <a:schemeClr val="accent3"/>
          </a:solidFill>
          <a:ln/>
        </p:spPr>
      </p:sp>
      <p:sp>
        <p:nvSpPr>
          <p:cNvPr id="31" name="Text 29"/>
          <p:cNvSpPr txBox="1"/>
          <p:nvPr/>
        </p:nvSpPr>
        <p:spPr>
          <a:xfrm>
            <a:off x="822960" y="4069080"/>
            <a:ext cx="2417978" cy="685800"/>
          </a:xfrm>
          <a:prstGeom prst="rect">
            <a:avLst/>
          </a:prstGeom>
          <a:noFill/>
          <a:ln/>
        </p:spPr>
        <p:txBody>
          <a:bodyPr wrap="square" lIns="0" tIns="0" rIns="0" bIns="0" rtlCol="0" anchor="ctr"/>
          <a:lstStyle/>
          <a:p>
            <a:pPr indent="0" marL="0">
              <a:buNone/>
            </a:pPr>
            <a:r>
              <a:rPr lang="en-US" sz="2000" b="1" dirty="0">
                <a:solidFill>
                  <a:schemeClr val="bg1"/>
                </a:solidFill>
              </a:rPr>
              <a:t>Gold Elite</a:t>
            </a:r>
            <a:endParaRPr lang="en-US" sz="2000" dirty="0"/>
          </a:p>
        </p:txBody>
      </p:sp>
      <p:sp>
        <p:nvSpPr>
          <p:cNvPr id="32" name="Text 30"/>
          <p:cNvSpPr txBox="1"/>
          <p:nvPr/>
        </p:nvSpPr>
        <p:spPr>
          <a:xfrm>
            <a:off x="2966618" y="4069080"/>
            <a:ext cx="822960" cy="685800"/>
          </a:xfrm>
          <a:prstGeom prst="rect">
            <a:avLst/>
          </a:prstGeom>
          <a:noFill/>
          <a:ln/>
        </p:spPr>
        <p:txBody>
          <a:bodyPr wrap="square" lIns="0" tIns="0" rIns="0" bIns="0" rtlCol="0" anchor="ctr"/>
          <a:lstStyle/>
          <a:p>
            <a:pPr algn="r" indent="0" marL="0">
              <a:buNone/>
            </a:pPr>
            <a:r>
              <a:rPr lang="en-US" sz="1100" b="1" spc="200" kern="0" dirty="0">
                <a:solidFill>
                  <a:schemeClr val="bg1"/>
                </a:solidFill>
              </a:rPr>
              <a:t>GOLD</a:t>
            </a:r>
            <a:endParaRPr lang="en-US" sz="1100" dirty="0"/>
          </a:p>
        </p:txBody>
      </p:sp>
      <p:sp>
        <p:nvSpPr>
          <p:cNvPr id="33" name="Text 31"/>
          <p:cNvSpPr txBox="1"/>
          <p:nvPr/>
        </p:nvSpPr>
        <p:spPr>
          <a:xfrm>
            <a:off x="822960" y="4873752"/>
            <a:ext cx="2966618" cy="457200"/>
          </a:xfrm>
          <a:prstGeom prst="rect">
            <a:avLst/>
          </a:prstGeom>
          <a:noFill/>
          <a:ln/>
        </p:spPr>
        <p:txBody>
          <a:bodyPr wrap="square" lIns="0" tIns="0" rIns="0" bIns="0" rtlCol="0" anchor="t"/>
          <a:lstStyle/>
          <a:p>
            <a:pPr indent="0" marL="0">
              <a:buNone/>
            </a:pPr>
            <a:r>
              <a:rPr lang="en-US" sz="2600" b="1" dirty="0">
                <a:solidFill>
                  <a:schemeClr val="tx1"/>
                </a:solidFill>
              </a:rPr>
              <a:t>₹10,000</a:t>
            </a:r>
            <a:pPr indent="0" marL="0">
              <a:buNone/>
            </a:pPr>
            <a:r>
              <a:rPr lang="en-US" sz="1300" dirty="0">
                <a:solidFill>
                  <a:schemeClr val="tx2"/>
                </a:solidFill>
              </a:rPr>
              <a:t>  per month × 10</a:t>
            </a:r>
            <a:endParaRPr lang="en-US" sz="2600" dirty="0"/>
          </a:p>
        </p:txBody>
      </p:sp>
      <p:sp>
        <p:nvSpPr>
          <p:cNvPr id="34" name="Text 32"/>
          <p:cNvSpPr txBox="1"/>
          <p:nvPr/>
        </p:nvSpPr>
        <p:spPr>
          <a:xfrm>
            <a:off x="822960" y="5330952"/>
            <a:ext cx="2966618" cy="274320"/>
          </a:xfrm>
          <a:prstGeom prst="rect">
            <a:avLst/>
          </a:prstGeom>
          <a:noFill/>
          <a:ln/>
        </p:spPr>
        <p:txBody>
          <a:bodyPr wrap="square" lIns="0" tIns="0" rIns="0" bIns="0" rtlCol="0" anchor="t"/>
          <a:lstStyle/>
          <a:p>
            <a:pPr indent="0" marL="0">
              <a:buNone/>
            </a:pPr>
            <a:r>
              <a:rPr lang="en-US" sz="1200" dirty="0">
                <a:solidFill>
                  <a:schemeClr val="tx2"/>
                </a:solidFill>
              </a:rPr>
              <a:t>Total ₹1,00,000</a:t>
            </a:r>
            <a:endParaRPr lang="en-US" sz="1200" dirty="0"/>
          </a:p>
        </p:txBody>
      </p:sp>
      <p:sp>
        <p:nvSpPr>
          <p:cNvPr id="35" name="Text 33"/>
          <p:cNvSpPr txBox="1"/>
          <p:nvPr/>
        </p:nvSpPr>
        <p:spPr>
          <a:xfrm>
            <a:off x="822960" y="5623560"/>
            <a:ext cx="2966618" cy="457200"/>
          </a:xfrm>
          <a:prstGeom prst="rect">
            <a:avLst/>
          </a:prstGeom>
          <a:noFill/>
          <a:ln/>
        </p:spPr>
        <p:txBody>
          <a:bodyPr wrap="square" lIns="0" tIns="0" rIns="0" bIns="0" rtlCol="0" anchor="t"/>
          <a:lstStyle/>
          <a:p>
            <a:pPr indent="0" marL="0">
              <a:buNone/>
            </a:pPr>
            <a:r>
              <a:rPr lang="en-US" sz="1300" b="1" dirty="0">
                <a:solidFill>
                  <a:srgbClr val="B45309"/>
                </a:solidFill>
              </a:rPr>
              <a:t>10 gm Gold Jewellery</a:t>
            </a:r>
            <a:endParaRPr lang="en-US" sz="1300" dirty="0"/>
          </a:p>
        </p:txBody>
      </p:sp>
      <p:sp>
        <p:nvSpPr>
          <p:cNvPr id="36" name="Silver Direct card"/>
          <p:cNvSpPr/>
          <p:nvPr/>
        </p:nvSpPr>
        <p:spPr>
          <a:xfrm>
            <a:off x="4338218" y="4069080"/>
            <a:ext cx="3515258"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37" name="Silver Direct header"/>
          <p:cNvSpPr/>
          <p:nvPr/>
        </p:nvSpPr>
        <p:spPr>
          <a:xfrm>
            <a:off x="4338218" y="4069080"/>
            <a:ext cx="3515258" cy="685800"/>
          </a:xfrm>
          <a:prstGeom prst="roundRect">
            <a:avLst>
              <a:gd name="adj" fmla="val 16000"/>
            </a:avLst>
          </a:prstGeom>
          <a:solidFill>
            <a:schemeClr val="accent6"/>
          </a:solidFill>
          <a:ln/>
        </p:spPr>
      </p:sp>
      <p:sp>
        <p:nvSpPr>
          <p:cNvPr id="38" name="Silver Direct header base"/>
          <p:cNvSpPr/>
          <p:nvPr/>
        </p:nvSpPr>
        <p:spPr>
          <a:xfrm>
            <a:off x="4338218" y="4526280"/>
            <a:ext cx="3515258" cy="228600"/>
          </a:xfrm>
          <a:prstGeom prst="rect">
            <a:avLst/>
          </a:prstGeom>
          <a:solidFill>
            <a:schemeClr val="accent6"/>
          </a:solidFill>
          <a:ln/>
        </p:spPr>
      </p:sp>
      <p:sp>
        <p:nvSpPr>
          <p:cNvPr id="39" name="Text 37"/>
          <p:cNvSpPr txBox="1"/>
          <p:nvPr/>
        </p:nvSpPr>
        <p:spPr>
          <a:xfrm>
            <a:off x="4612538" y="4069080"/>
            <a:ext cx="2417978" cy="685800"/>
          </a:xfrm>
          <a:prstGeom prst="rect">
            <a:avLst/>
          </a:prstGeom>
          <a:noFill/>
          <a:ln/>
        </p:spPr>
        <p:txBody>
          <a:bodyPr wrap="square" lIns="0" tIns="0" rIns="0" bIns="0" rtlCol="0" anchor="ctr"/>
          <a:lstStyle/>
          <a:p>
            <a:pPr indent="0" marL="0">
              <a:buNone/>
            </a:pPr>
            <a:r>
              <a:rPr lang="en-US" sz="2000" b="1" dirty="0">
                <a:solidFill>
                  <a:schemeClr val="bg1"/>
                </a:solidFill>
              </a:rPr>
              <a:t>Silver Direct</a:t>
            </a:r>
            <a:endParaRPr lang="en-US" sz="2000" dirty="0"/>
          </a:p>
        </p:txBody>
      </p:sp>
      <p:sp>
        <p:nvSpPr>
          <p:cNvPr id="40" name="Text 38"/>
          <p:cNvSpPr txBox="1"/>
          <p:nvPr/>
        </p:nvSpPr>
        <p:spPr>
          <a:xfrm>
            <a:off x="6756197" y="4069080"/>
            <a:ext cx="822960" cy="685800"/>
          </a:xfrm>
          <a:prstGeom prst="rect">
            <a:avLst/>
          </a:prstGeom>
          <a:noFill/>
          <a:ln/>
        </p:spPr>
        <p:txBody>
          <a:bodyPr wrap="square" lIns="0" tIns="0" rIns="0" bIns="0" rtlCol="0" anchor="ctr"/>
          <a:lstStyle/>
          <a:p>
            <a:pPr algn="r" indent="0" marL="0">
              <a:buNone/>
            </a:pPr>
            <a:r>
              <a:rPr lang="en-US" sz="1100" b="1" spc="200" kern="0" dirty="0">
                <a:solidFill>
                  <a:schemeClr val="bg1"/>
                </a:solidFill>
              </a:rPr>
              <a:t>SILVER</a:t>
            </a:r>
            <a:endParaRPr lang="en-US" sz="1100" dirty="0"/>
          </a:p>
        </p:txBody>
      </p:sp>
      <p:sp>
        <p:nvSpPr>
          <p:cNvPr id="41" name="Text 39"/>
          <p:cNvSpPr txBox="1"/>
          <p:nvPr/>
        </p:nvSpPr>
        <p:spPr>
          <a:xfrm>
            <a:off x="4612538" y="4873752"/>
            <a:ext cx="2966618" cy="457200"/>
          </a:xfrm>
          <a:prstGeom prst="rect">
            <a:avLst/>
          </a:prstGeom>
          <a:noFill/>
          <a:ln/>
        </p:spPr>
        <p:txBody>
          <a:bodyPr wrap="square" lIns="0" tIns="0" rIns="0" bIns="0" rtlCol="0" anchor="t"/>
          <a:lstStyle/>
          <a:p>
            <a:pPr indent="0" marL="0">
              <a:buNone/>
            </a:pPr>
            <a:r>
              <a:rPr lang="en-US" sz="2600" b="1" dirty="0">
                <a:solidFill>
                  <a:schemeClr val="tx1"/>
                </a:solidFill>
              </a:rPr>
              <a:t>₹20,000</a:t>
            </a:r>
            <a:pPr indent="0" marL="0">
              <a:buNone/>
            </a:pPr>
            <a:r>
              <a:rPr lang="en-US" sz="1300" dirty="0">
                <a:solidFill>
                  <a:schemeClr val="tx2"/>
                </a:solidFill>
              </a:rPr>
              <a:t>  one-time</a:t>
            </a:r>
            <a:endParaRPr lang="en-US" sz="2600" dirty="0"/>
          </a:p>
        </p:txBody>
      </p:sp>
      <p:sp>
        <p:nvSpPr>
          <p:cNvPr id="42" name="Text 40"/>
          <p:cNvSpPr txBox="1"/>
          <p:nvPr/>
        </p:nvSpPr>
        <p:spPr>
          <a:xfrm>
            <a:off x="4612538" y="5330952"/>
            <a:ext cx="2966618" cy="274320"/>
          </a:xfrm>
          <a:prstGeom prst="rect">
            <a:avLst/>
          </a:prstGeom>
          <a:noFill/>
          <a:ln/>
        </p:spPr>
        <p:txBody>
          <a:bodyPr wrap="square" lIns="0" tIns="0" rIns="0" bIns="0" rtlCol="0" anchor="t"/>
          <a:lstStyle/>
          <a:p>
            <a:pPr indent="0" marL="0">
              <a:buNone/>
            </a:pPr>
            <a:r>
              <a:rPr lang="en-US" sz="1200" dirty="0">
                <a:solidFill>
                  <a:schemeClr val="tx2"/>
                </a:solidFill>
              </a:rPr>
              <a:t>Paid at once</a:t>
            </a:r>
            <a:endParaRPr lang="en-US" sz="1200" dirty="0"/>
          </a:p>
        </p:txBody>
      </p:sp>
      <p:sp>
        <p:nvSpPr>
          <p:cNvPr id="43" name="Text 41"/>
          <p:cNvSpPr txBox="1"/>
          <p:nvPr/>
        </p:nvSpPr>
        <p:spPr>
          <a:xfrm>
            <a:off x="4612538" y="5623560"/>
            <a:ext cx="2966618" cy="457200"/>
          </a:xfrm>
          <a:prstGeom prst="rect">
            <a:avLst/>
          </a:prstGeom>
          <a:noFill/>
          <a:ln/>
        </p:spPr>
        <p:txBody>
          <a:bodyPr wrap="square" lIns="0" tIns="0" rIns="0" bIns="0" rtlCol="0" anchor="t"/>
          <a:lstStyle/>
          <a:p>
            <a:pPr indent="0" marL="0">
              <a:buNone/>
            </a:pPr>
            <a:r>
              <a:rPr lang="en-US" sz="1300" b="1" dirty="0">
                <a:solidFill>
                  <a:schemeClr val="accent6"/>
                </a:solidFill>
              </a:rPr>
              <a:t>Silver jewellery of your choice at the current rate</a:t>
            </a:r>
            <a:endParaRPr lang="en-US" sz="1300" dirty="0"/>
          </a:p>
        </p:txBody>
      </p:sp>
      <p:sp>
        <p:nvSpPr>
          <p:cNvPr id="44" name="Gold Direct card"/>
          <p:cNvSpPr/>
          <p:nvPr/>
        </p:nvSpPr>
        <p:spPr>
          <a:xfrm>
            <a:off x="8127797" y="4069080"/>
            <a:ext cx="3515258"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45" name="Gold Direct header"/>
          <p:cNvSpPr/>
          <p:nvPr/>
        </p:nvSpPr>
        <p:spPr>
          <a:xfrm>
            <a:off x="8127797" y="4069080"/>
            <a:ext cx="3515258" cy="685800"/>
          </a:xfrm>
          <a:prstGeom prst="roundRect">
            <a:avLst>
              <a:gd name="adj" fmla="val 16000"/>
            </a:avLst>
          </a:prstGeom>
          <a:solidFill>
            <a:schemeClr val="accent3"/>
          </a:solidFill>
          <a:ln/>
        </p:spPr>
      </p:sp>
      <p:sp>
        <p:nvSpPr>
          <p:cNvPr id="46" name="Gold Direct header base"/>
          <p:cNvSpPr/>
          <p:nvPr/>
        </p:nvSpPr>
        <p:spPr>
          <a:xfrm>
            <a:off x="8127797" y="4526280"/>
            <a:ext cx="3515258" cy="228600"/>
          </a:xfrm>
          <a:prstGeom prst="rect">
            <a:avLst/>
          </a:prstGeom>
          <a:solidFill>
            <a:schemeClr val="accent3"/>
          </a:solidFill>
          <a:ln/>
        </p:spPr>
      </p:sp>
      <p:sp>
        <p:nvSpPr>
          <p:cNvPr id="47" name="Text 45"/>
          <p:cNvSpPr txBox="1"/>
          <p:nvPr/>
        </p:nvSpPr>
        <p:spPr>
          <a:xfrm>
            <a:off x="8402117" y="4069080"/>
            <a:ext cx="2417978" cy="685800"/>
          </a:xfrm>
          <a:prstGeom prst="rect">
            <a:avLst/>
          </a:prstGeom>
          <a:noFill/>
          <a:ln/>
        </p:spPr>
        <p:txBody>
          <a:bodyPr wrap="square" lIns="0" tIns="0" rIns="0" bIns="0" rtlCol="0" anchor="ctr"/>
          <a:lstStyle/>
          <a:p>
            <a:pPr indent="0" marL="0">
              <a:buNone/>
            </a:pPr>
            <a:r>
              <a:rPr lang="en-US" sz="2000" b="1" dirty="0">
                <a:solidFill>
                  <a:schemeClr val="bg1"/>
                </a:solidFill>
              </a:rPr>
              <a:t>Gold Direct</a:t>
            </a:r>
            <a:endParaRPr lang="en-US" sz="2000" dirty="0"/>
          </a:p>
        </p:txBody>
      </p:sp>
      <p:sp>
        <p:nvSpPr>
          <p:cNvPr id="48" name="Text 46"/>
          <p:cNvSpPr txBox="1"/>
          <p:nvPr/>
        </p:nvSpPr>
        <p:spPr>
          <a:xfrm>
            <a:off x="10545775" y="4069080"/>
            <a:ext cx="822960" cy="685800"/>
          </a:xfrm>
          <a:prstGeom prst="rect">
            <a:avLst/>
          </a:prstGeom>
          <a:noFill/>
          <a:ln/>
        </p:spPr>
        <p:txBody>
          <a:bodyPr wrap="square" lIns="0" tIns="0" rIns="0" bIns="0" rtlCol="0" anchor="ctr"/>
          <a:lstStyle/>
          <a:p>
            <a:pPr algn="r" indent="0" marL="0">
              <a:buNone/>
            </a:pPr>
            <a:r>
              <a:rPr lang="en-US" sz="1100" b="1" spc="200" kern="0" dirty="0">
                <a:solidFill>
                  <a:schemeClr val="bg1"/>
                </a:solidFill>
              </a:rPr>
              <a:t>GOLD</a:t>
            </a:r>
            <a:endParaRPr lang="en-US" sz="1100" dirty="0"/>
          </a:p>
        </p:txBody>
      </p:sp>
      <p:sp>
        <p:nvSpPr>
          <p:cNvPr id="49" name="Text 47"/>
          <p:cNvSpPr txBox="1"/>
          <p:nvPr/>
        </p:nvSpPr>
        <p:spPr>
          <a:xfrm>
            <a:off x="8402117" y="4873752"/>
            <a:ext cx="2966618" cy="457200"/>
          </a:xfrm>
          <a:prstGeom prst="rect">
            <a:avLst/>
          </a:prstGeom>
          <a:noFill/>
          <a:ln/>
        </p:spPr>
        <p:txBody>
          <a:bodyPr wrap="square" lIns="0" tIns="0" rIns="0" bIns="0" rtlCol="0" anchor="t"/>
          <a:lstStyle/>
          <a:p>
            <a:pPr indent="0" marL="0">
              <a:buNone/>
            </a:pPr>
            <a:r>
              <a:rPr lang="en-US" sz="2600" b="1" dirty="0">
                <a:solidFill>
                  <a:schemeClr val="tx1"/>
                </a:solidFill>
              </a:rPr>
              <a:t>₹50,000</a:t>
            </a:r>
            <a:pPr indent="0" marL="0">
              <a:buNone/>
            </a:pPr>
            <a:r>
              <a:rPr lang="en-US" sz="1300" dirty="0">
                <a:solidFill>
                  <a:schemeClr val="tx2"/>
                </a:solidFill>
              </a:rPr>
              <a:t>  one-time</a:t>
            </a:r>
            <a:endParaRPr lang="en-US" sz="2600" dirty="0"/>
          </a:p>
        </p:txBody>
      </p:sp>
      <p:sp>
        <p:nvSpPr>
          <p:cNvPr id="50" name="Text 48"/>
          <p:cNvSpPr txBox="1"/>
          <p:nvPr/>
        </p:nvSpPr>
        <p:spPr>
          <a:xfrm>
            <a:off x="8402117" y="5330952"/>
            <a:ext cx="2966618" cy="274320"/>
          </a:xfrm>
          <a:prstGeom prst="rect">
            <a:avLst/>
          </a:prstGeom>
          <a:noFill/>
          <a:ln/>
        </p:spPr>
        <p:txBody>
          <a:bodyPr wrap="square" lIns="0" tIns="0" rIns="0" bIns="0" rtlCol="0" anchor="t"/>
          <a:lstStyle/>
          <a:p>
            <a:pPr indent="0" marL="0">
              <a:buNone/>
            </a:pPr>
            <a:r>
              <a:rPr lang="en-US" sz="1200" dirty="0">
                <a:solidFill>
                  <a:schemeClr val="tx2"/>
                </a:solidFill>
              </a:rPr>
              <a:t>Paid at once</a:t>
            </a:r>
            <a:endParaRPr lang="en-US" sz="1200" dirty="0"/>
          </a:p>
        </p:txBody>
      </p:sp>
      <p:sp>
        <p:nvSpPr>
          <p:cNvPr id="51" name="Text 49"/>
          <p:cNvSpPr txBox="1"/>
          <p:nvPr/>
        </p:nvSpPr>
        <p:spPr>
          <a:xfrm>
            <a:off x="8402117" y="5623560"/>
            <a:ext cx="2966618" cy="457200"/>
          </a:xfrm>
          <a:prstGeom prst="rect">
            <a:avLst/>
          </a:prstGeom>
          <a:noFill/>
          <a:ln/>
        </p:spPr>
        <p:txBody>
          <a:bodyPr wrap="square" lIns="0" tIns="0" rIns="0" bIns="0" rtlCol="0" anchor="t"/>
          <a:lstStyle/>
          <a:p>
            <a:pPr indent="0" marL="0">
              <a:buNone/>
            </a:pPr>
            <a:r>
              <a:rPr lang="en-US" sz="1300" b="1" dirty="0">
                <a:solidFill>
                  <a:srgbClr val="B45309"/>
                </a:solidFill>
              </a:rPr>
              <a:t>Gold jewellery of your choice at the current rate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Future Rate or Current Rate?</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Every EMI plan starts on Future Rate. You may switch to Current Rate once, later.</a:t>
            </a:r>
            <a:endParaRPr lang="en-US" sz="1600" dirty="0"/>
          </a:p>
        </p:txBody>
      </p:sp>
      <p:sp>
        <p:nvSpPr>
          <p:cNvPr id="4" name="Future Rate (default) card"/>
          <p:cNvSpPr/>
          <p:nvPr/>
        </p:nvSpPr>
        <p:spPr>
          <a:xfrm>
            <a:off x="548640" y="1645920"/>
            <a:ext cx="5364328" cy="3154680"/>
          </a:xfrm>
          <a:prstGeom prst="roundRect">
            <a:avLst>
              <a:gd name="adj" fmla="val 3478"/>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Future Rate (default) icon circle"/>
          <p:cNvSpPr/>
          <p:nvPr/>
        </p:nvSpPr>
        <p:spPr>
          <a:xfrm>
            <a:off x="868680" y="1874520"/>
            <a:ext cx="685800" cy="685800"/>
          </a:xfrm>
          <a:prstGeom prst="ellipse">
            <a:avLst/>
          </a:prstGeom>
          <a:solidFill>
            <a:schemeClr val="accent6"/>
          </a:solidFill>
          <a:ln/>
        </p:spPr>
      </p:sp>
      <p:pic>
        <p:nvPicPr>
          <p:cNvPr id="6" name="Future Rate (default) icon" descr="Future Rate (default)">    </p:cNvPr>
          <p:cNvPicPr>
            <a:picLocks noChangeAspect="1"/>
          </p:cNvPicPr>
          <p:nvPr/>
        </p:nvPicPr>
        <p:blipFill>
          <a:blip r:embed="rId1"/>
          <a:stretch>
            <a:fillRect/>
          </a:stretch>
        </p:blipFill>
        <p:spPr>
          <a:xfrm>
            <a:off x="1033272" y="2039112"/>
            <a:ext cx="356616" cy="356616"/>
          </a:xfrm>
          <a:prstGeom prst="rect">
            <a:avLst/>
          </a:prstGeom>
        </p:spPr>
      </p:pic>
      <p:sp>
        <p:nvSpPr>
          <p:cNvPr id="7" name="Text 4"/>
          <p:cNvSpPr txBox="1"/>
          <p:nvPr/>
        </p:nvSpPr>
        <p:spPr>
          <a:xfrm>
            <a:off x="1737360" y="1874520"/>
            <a:ext cx="3901288" cy="685800"/>
          </a:xfrm>
          <a:prstGeom prst="rect">
            <a:avLst/>
          </a:prstGeom>
          <a:noFill/>
          <a:ln/>
        </p:spPr>
        <p:txBody>
          <a:bodyPr wrap="square" lIns="0" tIns="0" rIns="0" bIns="0" rtlCol="0" anchor="ctr"/>
          <a:lstStyle/>
          <a:p>
            <a:pPr indent="0" marL="0">
              <a:buNone/>
            </a:pPr>
            <a:r>
              <a:rPr lang="en-US" sz="2200" b="1" dirty="0">
                <a:solidFill>
                  <a:schemeClr val="tx1"/>
                </a:solidFill>
              </a:rPr>
              <a:t>Future Rate (default)</a:t>
            </a:r>
            <a:endParaRPr lang="en-US" sz="2200" dirty="0"/>
          </a:p>
        </p:txBody>
      </p:sp>
      <p:sp>
        <p:nvSpPr>
          <p:cNvPr id="8" name="Text 5"/>
          <p:cNvSpPr txBox="1"/>
          <p:nvPr/>
        </p:nvSpPr>
        <p:spPr>
          <a:xfrm>
            <a:off x="868680" y="2697480"/>
            <a:ext cx="4724248" cy="2011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Your EMI is the plan's plain amount (e.g. ₹1,000 × 20).</a:t>
            </a:r>
            <a:endParaRPr lang="en-US" sz="1350" dirty="0"/>
          </a:p>
          <a:p>
            <a:pPr marL="342900" indent="-342900">
              <a:spcAft>
                <a:spcPts val="600"/>
              </a:spcAft>
              <a:buSzPct val="100000"/>
              <a:buChar char="•"/>
            </a:pPr>
            <a:r>
              <a:rPr lang="en-US" sz="1350" dirty="0">
                <a:solidFill>
                  <a:schemeClr val="tx2"/>
                </a:solidFill>
              </a:rPr>
              <a:t>No weight is locked while you pay.</a:t>
            </a:r>
            <a:endParaRPr lang="en-US" sz="1350" dirty="0"/>
          </a:p>
          <a:p>
            <a:pPr marL="342900" indent="-342900">
              <a:spcAft>
                <a:spcPts val="600"/>
              </a:spcAft>
              <a:buSzPct val="100000"/>
              <a:buChar char="•"/>
            </a:pPr>
            <a:r>
              <a:rPr lang="en-US" sz="1350" dirty="0">
                <a:solidFill>
                  <a:schemeClr val="tx2"/>
                </a:solidFill>
              </a:rPr>
              <a:t>At the end, you get jewellery worth the amount you paid, at the rate on the delivery date.</a:t>
            </a:r>
            <a:endParaRPr lang="en-US" sz="1350" dirty="0"/>
          </a:p>
          <a:p>
            <a:pPr marL="342900" indent="-342900">
              <a:spcAft>
                <a:spcPts val="600"/>
              </a:spcAft>
              <a:buSzPct val="100000"/>
              <a:buChar char="•"/>
            </a:pPr>
            <a:r>
              <a:rPr lang="en-US" sz="1350" dirty="0">
                <a:solidFill>
                  <a:schemeClr val="tx2"/>
                </a:solidFill>
              </a:rPr>
              <a:t>No maintenance charge.</a:t>
            </a:r>
            <a:endParaRPr lang="en-US" sz="1350" dirty="0"/>
          </a:p>
        </p:txBody>
      </p:sp>
      <p:sp>
        <p:nvSpPr>
          <p:cNvPr id="9" name="Current Rate (optional) card"/>
          <p:cNvSpPr/>
          <p:nvPr/>
        </p:nvSpPr>
        <p:spPr>
          <a:xfrm>
            <a:off x="6278728" y="1645920"/>
            <a:ext cx="5364328" cy="3154680"/>
          </a:xfrm>
          <a:prstGeom prst="roundRect">
            <a:avLst>
              <a:gd name="adj" fmla="val 3478"/>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0" name="Current Rate (optional) icon circle"/>
          <p:cNvSpPr/>
          <p:nvPr/>
        </p:nvSpPr>
        <p:spPr>
          <a:xfrm>
            <a:off x="6598768" y="1874520"/>
            <a:ext cx="685800" cy="685800"/>
          </a:xfrm>
          <a:prstGeom prst="ellipse">
            <a:avLst/>
          </a:prstGeom>
          <a:solidFill>
            <a:schemeClr val="accent2"/>
          </a:solidFill>
          <a:ln/>
        </p:spPr>
      </p:sp>
      <p:pic>
        <p:nvPicPr>
          <p:cNvPr id="11" name="Current Rate (optional) icon" descr="Current Rate (optional)">    </p:cNvPr>
          <p:cNvPicPr>
            <a:picLocks noChangeAspect="1"/>
          </p:cNvPicPr>
          <p:nvPr/>
        </p:nvPicPr>
        <p:blipFill>
          <a:blip r:embed="rId2"/>
          <a:stretch>
            <a:fillRect/>
          </a:stretch>
        </p:blipFill>
        <p:spPr>
          <a:xfrm>
            <a:off x="6763360" y="2039112"/>
            <a:ext cx="356616" cy="356616"/>
          </a:xfrm>
          <a:prstGeom prst="rect">
            <a:avLst/>
          </a:prstGeom>
        </p:spPr>
      </p:pic>
      <p:sp>
        <p:nvSpPr>
          <p:cNvPr id="12" name="Text 8"/>
          <p:cNvSpPr txBox="1"/>
          <p:nvPr/>
        </p:nvSpPr>
        <p:spPr>
          <a:xfrm>
            <a:off x="7467448" y="1874520"/>
            <a:ext cx="3901288" cy="685800"/>
          </a:xfrm>
          <a:prstGeom prst="rect">
            <a:avLst/>
          </a:prstGeom>
          <a:noFill/>
          <a:ln/>
        </p:spPr>
        <p:txBody>
          <a:bodyPr wrap="square" lIns="0" tIns="0" rIns="0" bIns="0" rtlCol="0" anchor="ctr"/>
          <a:lstStyle/>
          <a:p>
            <a:pPr indent="0" marL="0">
              <a:buNone/>
            </a:pPr>
            <a:r>
              <a:rPr lang="en-US" sz="2200" b="1" dirty="0">
                <a:solidFill>
                  <a:schemeClr val="tx1"/>
                </a:solidFill>
              </a:rPr>
              <a:t>Current Rate (optional)</a:t>
            </a:r>
            <a:endParaRPr lang="en-US" sz="2200" dirty="0"/>
          </a:p>
        </p:txBody>
      </p:sp>
      <p:sp>
        <p:nvSpPr>
          <p:cNvPr id="13" name="Text 9"/>
          <p:cNvSpPr txBox="1"/>
          <p:nvPr/>
        </p:nvSpPr>
        <p:spPr>
          <a:xfrm>
            <a:off x="6598768" y="2697480"/>
            <a:ext cx="4724248" cy="2011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Locks today's rate and the plan's fixed weight (e.g. 100 gm silver).</a:t>
            </a:r>
            <a:endParaRPr lang="en-US" sz="1350" dirty="0"/>
          </a:p>
          <a:p>
            <a:pPr marL="342900" indent="-342900">
              <a:spcAft>
                <a:spcPts val="600"/>
              </a:spcAft>
              <a:buSzPct val="100000"/>
              <a:buChar char="•"/>
            </a:pPr>
            <a:r>
              <a:rPr lang="en-US" sz="1350" dirty="0">
                <a:solidFill>
                  <a:schemeClr val="tx2"/>
                </a:solidFill>
              </a:rPr>
              <a:t>New EMIs = (value still to pay ÷ EMIs left) + 1% maintenance, which falls every month.</a:t>
            </a:r>
            <a:endParaRPr lang="en-US" sz="1350" dirty="0"/>
          </a:p>
          <a:p>
            <a:pPr marL="342900" indent="-342900">
              <a:spcAft>
                <a:spcPts val="600"/>
              </a:spcAft>
              <a:buSzPct val="100000"/>
              <a:buChar char="•"/>
            </a:pPr>
            <a:r>
              <a:rPr lang="en-US" sz="1350" dirty="0">
                <a:solidFill>
                  <a:schemeClr val="tx2"/>
                </a:solidFill>
              </a:rPr>
              <a:t>Request it from your Membership Plan page — the company approves it.</a:t>
            </a:r>
            <a:endParaRPr lang="en-US" sz="1350" dirty="0"/>
          </a:p>
          <a:p>
            <a:pPr marL="342900" indent="-342900">
              <a:spcAft>
                <a:spcPts val="600"/>
              </a:spcAft>
              <a:buSzPct val="100000"/>
              <a:buChar char="•"/>
            </a:pPr>
            <a:r>
              <a:rPr lang="en-US" sz="1350" dirty="0">
                <a:solidFill>
                  <a:schemeClr val="tx2"/>
                </a:solidFill>
              </a:rPr>
              <a:t>You cannot undo it yourself; contact the company before your next EMI.</a:t>
            </a:r>
            <a:endParaRPr lang="en-US" sz="1350" dirty="0"/>
          </a:p>
        </p:txBody>
      </p:sp>
      <p:sp>
        <p:nvSpPr>
          <p:cNvPr id="14" name="Example band"/>
          <p:cNvSpPr/>
          <p:nvPr/>
        </p:nvSpPr>
        <p:spPr>
          <a:xfrm>
            <a:off x="548640" y="5029200"/>
            <a:ext cx="11094415" cy="1097280"/>
          </a:xfrm>
          <a:prstGeom prst="roundRect">
            <a:avLst>
              <a:gd name="adj" fmla="val 10000"/>
            </a:avLst>
          </a:prstGeom>
          <a:solidFill>
            <a:schemeClr val="bg2"/>
          </a:solidFill>
          <a:ln/>
        </p:spPr>
      </p:sp>
      <p:sp>
        <p:nvSpPr>
          <p:cNvPr id="15" name="Text 11"/>
          <p:cNvSpPr txBox="1"/>
          <p:nvPr/>
        </p:nvSpPr>
        <p:spPr>
          <a:xfrm>
            <a:off x="868680" y="5138928"/>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EXAMPLE</a:t>
            </a:r>
            <a:endParaRPr lang="en-US" sz="1100" dirty="0"/>
          </a:p>
        </p:txBody>
      </p:sp>
      <p:sp>
        <p:nvSpPr>
          <p:cNvPr id="16" name="Text 12"/>
          <p:cNvSpPr txBox="1"/>
          <p:nvPr/>
        </p:nvSpPr>
        <p:spPr>
          <a:xfrm>
            <a:off x="868680" y="5413248"/>
            <a:ext cx="10454335" cy="640080"/>
          </a:xfrm>
          <a:prstGeom prst="rect">
            <a:avLst/>
          </a:prstGeom>
          <a:noFill/>
          <a:ln/>
        </p:spPr>
        <p:txBody>
          <a:bodyPr wrap="square" lIns="0" tIns="0" rIns="0" bIns="0" rtlCol="0" anchor="t"/>
          <a:lstStyle/>
          <a:p>
            <a:pPr indent="0" marL="0">
              <a:buNone/>
            </a:pPr>
            <a:r>
              <a:rPr lang="en-US" sz="1350" dirty="0">
                <a:solidFill>
                  <a:schemeClr val="tx1"/>
                </a:solidFill>
              </a:rPr>
              <a:t>Silver Start, nothing paid yet, silver at ₹350 / gm (no making charge in this example):  100 gm × ₹350 = ₹35,000.  First EMI = ₹35,000 ÷ 20 + 1% of ₹35,000 = ₹1,750 + ₹350 = ₹2,100. Each later EMI is a little smaller, because the maintenance is 1% of what is still left.</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How to join</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Six steps from sponsor code to your first login.</a:t>
            </a:r>
            <a:endParaRPr lang="en-US" sz="1600" dirty="0"/>
          </a:p>
        </p:txBody>
      </p:sp>
      <p:sp>
        <p:nvSpPr>
          <p:cNvPr id="4" name="Steps connector"/>
          <p:cNvSpPr/>
          <p:nvPr/>
        </p:nvSpPr>
        <p:spPr>
          <a:xfrm>
            <a:off x="1473175" y="2331720"/>
            <a:ext cx="9245346" cy="0"/>
          </a:xfrm>
          <a:prstGeom prst="line">
            <a:avLst/>
          </a:prstGeom>
          <a:noFill/>
          <a:ln w="25400">
            <a:solidFill>
              <a:srgbClr val="CBD5E1"/>
            </a:solidFill>
            <a:prstDash val="dash"/>
          </a:ln>
        </p:spPr>
      </p:sp>
      <p:sp>
        <p:nvSpPr>
          <p:cNvPr id="5" name="Get a sponsor code icon circle"/>
          <p:cNvSpPr/>
          <p:nvPr/>
        </p:nvSpPr>
        <p:spPr>
          <a:xfrm>
            <a:off x="970255" y="1828800"/>
            <a:ext cx="1005840" cy="1005840"/>
          </a:xfrm>
          <a:prstGeom prst="ellipse">
            <a:avLst/>
          </a:prstGeom>
          <a:solidFill>
            <a:schemeClr val="accent1"/>
          </a:solidFill>
          <a:ln/>
        </p:spPr>
      </p:sp>
      <p:pic>
        <p:nvPicPr>
          <p:cNvPr id="6" name="Get a sponsor code icon" descr="Get a sponsor code">    </p:cNvPr>
          <p:cNvPicPr>
            <a:picLocks noChangeAspect="1"/>
          </p:cNvPicPr>
          <p:nvPr/>
        </p:nvPicPr>
        <p:blipFill>
          <a:blip r:embed="rId1"/>
          <a:stretch>
            <a:fillRect/>
          </a:stretch>
        </p:blipFill>
        <p:spPr>
          <a:xfrm>
            <a:off x="1211656" y="2070202"/>
            <a:ext cx="523037" cy="523037"/>
          </a:xfrm>
          <a:prstGeom prst="rect">
            <a:avLst/>
          </a:prstGeom>
        </p:spPr>
      </p:pic>
      <p:sp>
        <p:nvSpPr>
          <p:cNvPr id="7" name="Step 1 badge"/>
          <p:cNvSpPr/>
          <p:nvPr/>
        </p:nvSpPr>
        <p:spPr>
          <a:xfrm>
            <a:off x="1701775" y="1737360"/>
            <a:ext cx="384048" cy="384048"/>
          </a:xfrm>
          <a:prstGeom prst="ellipse">
            <a:avLst/>
          </a:prstGeom>
          <a:solidFill>
            <a:schemeClr val="tx1"/>
          </a:solidFill>
          <a:ln w="19050">
            <a:solidFill>
              <a:schemeClr val="bg1"/>
            </a:solidFill>
            <a:prstDash val="solid"/>
          </a:ln>
        </p:spPr>
      </p:sp>
      <p:sp>
        <p:nvSpPr>
          <p:cNvPr id="8" name="Text 5"/>
          <p:cNvSpPr txBox="1"/>
          <p:nvPr/>
        </p:nvSpPr>
        <p:spPr>
          <a:xfrm>
            <a:off x="1701775"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640080" y="3017520"/>
            <a:ext cx="1666189" cy="365760"/>
          </a:xfrm>
          <a:prstGeom prst="rect">
            <a:avLst/>
          </a:prstGeom>
          <a:noFill/>
          <a:ln/>
        </p:spPr>
        <p:txBody>
          <a:bodyPr wrap="square" lIns="0" tIns="0" rIns="0" bIns="0" rtlCol="0" anchor="t"/>
          <a:lstStyle/>
          <a:p>
            <a:pPr algn="ctr" indent="0" marL="0">
              <a:buNone/>
            </a:pPr>
            <a:r>
              <a:rPr lang="en-US" sz="1600" b="1" dirty="0">
                <a:solidFill>
                  <a:schemeClr val="tx1"/>
                </a:solidFill>
              </a:rPr>
              <a:t>Get a sponsor code</a:t>
            </a:r>
            <a:endParaRPr lang="en-US" sz="1600" dirty="0"/>
          </a:p>
        </p:txBody>
      </p:sp>
      <p:sp>
        <p:nvSpPr>
          <p:cNvPr id="10" name="Text 7"/>
          <p:cNvSpPr txBox="1"/>
          <p:nvPr/>
        </p:nvSpPr>
        <p:spPr>
          <a:xfrm>
            <a:off x="685800" y="3429000"/>
            <a:ext cx="1574749" cy="822960"/>
          </a:xfrm>
          <a:prstGeom prst="rect">
            <a:avLst/>
          </a:prstGeom>
          <a:noFill/>
          <a:ln/>
        </p:spPr>
        <p:txBody>
          <a:bodyPr wrap="square" lIns="0" tIns="0" rIns="0" bIns="0" rtlCol="0" anchor="t"/>
          <a:lstStyle/>
          <a:p>
            <a:pPr algn="ctr" indent="0" marL="0">
              <a:buNone/>
            </a:pPr>
            <a:r>
              <a:rPr lang="en-US" sz="1300" dirty="0">
                <a:solidFill>
                  <a:schemeClr val="tx2"/>
                </a:solidFill>
              </a:rPr>
              <a:t>From the member who introduced you.</a:t>
            </a:r>
            <a:endParaRPr lang="en-US" sz="1300" dirty="0"/>
          </a:p>
        </p:txBody>
      </p:sp>
      <p:sp>
        <p:nvSpPr>
          <p:cNvPr id="11" name="Pick Left or Right icon circle"/>
          <p:cNvSpPr/>
          <p:nvPr/>
        </p:nvSpPr>
        <p:spPr>
          <a:xfrm>
            <a:off x="2819324" y="1828800"/>
            <a:ext cx="1005840" cy="1005840"/>
          </a:xfrm>
          <a:prstGeom prst="ellipse">
            <a:avLst/>
          </a:prstGeom>
          <a:solidFill>
            <a:schemeClr val="accent6"/>
          </a:solidFill>
          <a:ln/>
        </p:spPr>
      </p:sp>
      <p:pic>
        <p:nvPicPr>
          <p:cNvPr id="12" name="Pick Left or Right icon" descr="Pick Left or Right">    </p:cNvPr>
          <p:cNvPicPr>
            <a:picLocks noChangeAspect="1"/>
          </p:cNvPicPr>
          <p:nvPr/>
        </p:nvPicPr>
        <p:blipFill>
          <a:blip r:embed="rId2"/>
          <a:stretch>
            <a:fillRect/>
          </a:stretch>
        </p:blipFill>
        <p:spPr>
          <a:xfrm>
            <a:off x="3060725" y="2070202"/>
            <a:ext cx="523037" cy="523037"/>
          </a:xfrm>
          <a:prstGeom prst="rect">
            <a:avLst/>
          </a:prstGeom>
        </p:spPr>
      </p:pic>
      <p:sp>
        <p:nvSpPr>
          <p:cNvPr id="13" name="Step 2 badge"/>
          <p:cNvSpPr/>
          <p:nvPr/>
        </p:nvSpPr>
        <p:spPr>
          <a:xfrm>
            <a:off x="3550844" y="1737360"/>
            <a:ext cx="384048" cy="384048"/>
          </a:xfrm>
          <a:prstGeom prst="ellipse">
            <a:avLst/>
          </a:prstGeom>
          <a:solidFill>
            <a:schemeClr val="tx1"/>
          </a:solidFill>
          <a:ln w="19050">
            <a:solidFill>
              <a:schemeClr val="bg1"/>
            </a:solidFill>
            <a:prstDash val="solid"/>
          </a:ln>
        </p:spPr>
      </p:sp>
      <p:sp>
        <p:nvSpPr>
          <p:cNvPr id="14" name="Text 10"/>
          <p:cNvSpPr txBox="1"/>
          <p:nvPr/>
        </p:nvSpPr>
        <p:spPr>
          <a:xfrm>
            <a:off x="3550844"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1"/>
          <p:cNvSpPr txBox="1"/>
          <p:nvPr/>
        </p:nvSpPr>
        <p:spPr>
          <a:xfrm>
            <a:off x="2489149" y="3017520"/>
            <a:ext cx="1666189" cy="365760"/>
          </a:xfrm>
          <a:prstGeom prst="rect">
            <a:avLst/>
          </a:prstGeom>
          <a:noFill/>
          <a:ln/>
        </p:spPr>
        <p:txBody>
          <a:bodyPr wrap="square" lIns="0" tIns="0" rIns="0" bIns="0" rtlCol="0" anchor="t"/>
          <a:lstStyle/>
          <a:p>
            <a:pPr algn="ctr" indent="0" marL="0">
              <a:buNone/>
            </a:pPr>
            <a:r>
              <a:rPr lang="en-US" sz="1600" b="1" dirty="0">
                <a:solidFill>
                  <a:schemeClr val="tx1"/>
                </a:solidFill>
              </a:rPr>
              <a:t>Pick Left or Right</a:t>
            </a:r>
            <a:endParaRPr lang="en-US" sz="1600" dirty="0"/>
          </a:p>
        </p:txBody>
      </p:sp>
      <p:sp>
        <p:nvSpPr>
          <p:cNvPr id="16" name="Text 12"/>
          <p:cNvSpPr txBox="1"/>
          <p:nvPr/>
        </p:nvSpPr>
        <p:spPr>
          <a:xfrm>
            <a:off x="2534869" y="3429000"/>
            <a:ext cx="1574749" cy="822960"/>
          </a:xfrm>
          <a:prstGeom prst="rect">
            <a:avLst/>
          </a:prstGeom>
          <a:noFill/>
          <a:ln/>
        </p:spPr>
        <p:txBody>
          <a:bodyPr wrap="square" lIns="0" tIns="0" rIns="0" bIns="0" rtlCol="0" anchor="t"/>
          <a:lstStyle/>
          <a:p>
            <a:pPr algn="ctr" indent="0" marL="0">
              <a:buNone/>
            </a:pPr>
            <a:r>
              <a:rPr lang="en-US" sz="1300" dirty="0">
                <a:solidFill>
                  <a:schemeClr val="tx2"/>
                </a:solidFill>
              </a:rPr>
              <a:t>Where you sit in your sponsor's tree.</a:t>
            </a:r>
            <a:endParaRPr lang="en-US" sz="1300" dirty="0"/>
          </a:p>
        </p:txBody>
      </p:sp>
      <p:sp>
        <p:nvSpPr>
          <p:cNvPr id="17" name="Fill your details icon circle"/>
          <p:cNvSpPr/>
          <p:nvPr/>
        </p:nvSpPr>
        <p:spPr>
          <a:xfrm>
            <a:off x="4668393" y="1828800"/>
            <a:ext cx="1005840" cy="1005840"/>
          </a:xfrm>
          <a:prstGeom prst="ellipse">
            <a:avLst/>
          </a:prstGeom>
          <a:solidFill>
            <a:schemeClr val="accent4"/>
          </a:solidFill>
          <a:ln/>
        </p:spPr>
      </p:sp>
      <p:pic>
        <p:nvPicPr>
          <p:cNvPr id="18" name="Fill your details icon" descr="Fill your details">    </p:cNvPr>
          <p:cNvPicPr>
            <a:picLocks noChangeAspect="1"/>
          </p:cNvPicPr>
          <p:nvPr/>
        </p:nvPicPr>
        <p:blipFill>
          <a:blip r:embed="rId3"/>
          <a:stretch>
            <a:fillRect/>
          </a:stretch>
        </p:blipFill>
        <p:spPr>
          <a:xfrm>
            <a:off x="4909795" y="2070202"/>
            <a:ext cx="523037" cy="523037"/>
          </a:xfrm>
          <a:prstGeom prst="rect">
            <a:avLst/>
          </a:prstGeom>
        </p:spPr>
      </p:pic>
      <p:sp>
        <p:nvSpPr>
          <p:cNvPr id="19" name="Step 3 badge"/>
          <p:cNvSpPr/>
          <p:nvPr/>
        </p:nvSpPr>
        <p:spPr>
          <a:xfrm>
            <a:off x="5399913" y="1737360"/>
            <a:ext cx="384048" cy="384048"/>
          </a:xfrm>
          <a:prstGeom prst="ellipse">
            <a:avLst/>
          </a:prstGeom>
          <a:solidFill>
            <a:schemeClr val="tx1"/>
          </a:solidFill>
          <a:ln w="19050">
            <a:solidFill>
              <a:schemeClr val="bg1"/>
            </a:solidFill>
            <a:prstDash val="solid"/>
          </a:ln>
        </p:spPr>
      </p:sp>
      <p:sp>
        <p:nvSpPr>
          <p:cNvPr id="20" name="Text 15"/>
          <p:cNvSpPr txBox="1"/>
          <p:nvPr/>
        </p:nvSpPr>
        <p:spPr>
          <a:xfrm>
            <a:off x="5399913"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6"/>
          <p:cNvSpPr txBox="1"/>
          <p:nvPr/>
        </p:nvSpPr>
        <p:spPr>
          <a:xfrm>
            <a:off x="4338218" y="3017520"/>
            <a:ext cx="1666189" cy="365760"/>
          </a:xfrm>
          <a:prstGeom prst="rect">
            <a:avLst/>
          </a:prstGeom>
          <a:noFill/>
          <a:ln/>
        </p:spPr>
        <p:txBody>
          <a:bodyPr wrap="square" lIns="0" tIns="0" rIns="0" bIns="0" rtlCol="0" anchor="t"/>
          <a:lstStyle/>
          <a:p>
            <a:pPr algn="ctr" indent="0" marL="0">
              <a:buNone/>
            </a:pPr>
            <a:r>
              <a:rPr lang="en-US" sz="1600" b="1" dirty="0">
                <a:solidFill>
                  <a:schemeClr val="tx1"/>
                </a:solidFill>
              </a:rPr>
              <a:t>Fill your details</a:t>
            </a:r>
            <a:endParaRPr lang="en-US" sz="1600" dirty="0"/>
          </a:p>
        </p:txBody>
      </p:sp>
      <p:sp>
        <p:nvSpPr>
          <p:cNvPr id="22" name="Text 17"/>
          <p:cNvSpPr txBox="1"/>
          <p:nvPr/>
        </p:nvSpPr>
        <p:spPr>
          <a:xfrm>
            <a:off x="4383938" y="3429000"/>
            <a:ext cx="1574749" cy="822960"/>
          </a:xfrm>
          <a:prstGeom prst="rect">
            <a:avLst/>
          </a:prstGeom>
          <a:noFill/>
          <a:ln/>
        </p:spPr>
        <p:txBody>
          <a:bodyPr wrap="square" lIns="0" tIns="0" rIns="0" bIns="0" rtlCol="0" anchor="t"/>
          <a:lstStyle/>
          <a:p>
            <a:pPr algn="ctr" indent="0" marL="0">
              <a:buNone/>
            </a:pPr>
            <a:r>
              <a:rPr lang="en-US" sz="1300" dirty="0">
                <a:solidFill>
                  <a:schemeClr val="tx2"/>
                </a:solidFill>
              </a:rPr>
              <a:t>Name, mobile, email, gender.</a:t>
            </a:r>
            <a:endParaRPr lang="en-US" sz="1300" dirty="0"/>
          </a:p>
        </p:txBody>
      </p:sp>
      <p:sp>
        <p:nvSpPr>
          <p:cNvPr id="23" name="Choose a plan icon circle"/>
          <p:cNvSpPr/>
          <p:nvPr/>
        </p:nvSpPr>
        <p:spPr>
          <a:xfrm>
            <a:off x="6517462" y="1828800"/>
            <a:ext cx="1005840" cy="1005840"/>
          </a:xfrm>
          <a:prstGeom prst="ellipse">
            <a:avLst/>
          </a:prstGeom>
          <a:solidFill>
            <a:schemeClr val="accent3"/>
          </a:solidFill>
          <a:ln/>
        </p:spPr>
      </p:sp>
      <p:pic>
        <p:nvPicPr>
          <p:cNvPr id="24" name="Choose a plan icon" descr="Choose a plan">    </p:cNvPr>
          <p:cNvPicPr>
            <a:picLocks noChangeAspect="1"/>
          </p:cNvPicPr>
          <p:nvPr/>
        </p:nvPicPr>
        <p:blipFill>
          <a:blip r:embed="rId4"/>
          <a:stretch>
            <a:fillRect/>
          </a:stretch>
        </p:blipFill>
        <p:spPr>
          <a:xfrm>
            <a:off x="6758864" y="2070202"/>
            <a:ext cx="523037" cy="523037"/>
          </a:xfrm>
          <a:prstGeom prst="rect">
            <a:avLst/>
          </a:prstGeom>
        </p:spPr>
      </p:pic>
      <p:sp>
        <p:nvSpPr>
          <p:cNvPr id="25" name="Step 4 badge"/>
          <p:cNvSpPr/>
          <p:nvPr/>
        </p:nvSpPr>
        <p:spPr>
          <a:xfrm>
            <a:off x="7248982" y="1737360"/>
            <a:ext cx="384048" cy="384048"/>
          </a:xfrm>
          <a:prstGeom prst="ellipse">
            <a:avLst/>
          </a:prstGeom>
          <a:solidFill>
            <a:schemeClr val="tx1"/>
          </a:solidFill>
          <a:ln w="19050">
            <a:solidFill>
              <a:schemeClr val="bg1"/>
            </a:solidFill>
            <a:prstDash val="solid"/>
          </a:ln>
        </p:spPr>
      </p:sp>
      <p:sp>
        <p:nvSpPr>
          <p:cNvPr id="26" name="Text 20"/>
          <p:cNvSpPr txBox="1"/>
          <p:nvPr/>
        </p:nvSpPr>
        <p:spPr>
          <a:xfrm>
            <a:off x="7248982"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7" name="Text 21"/>
          <p:cNvSpPr txBox="1"/>
          <p:nvPr/>
        </p:nvSpPr>
        <p:spPr>
          <a:xfrm>
            <a:off x="6187288" y="3017520"/>
            <a:ext cx="1666189" cy="365760"/>
          </a:xfrm>
          <a:prstGeom prst="rect">
            <a:avLst/>
          </a:prstGeom>
          <a:noFill/>
          <a:ln/>
        </p:spPr>
        <p:txBody>
          <a:bodyPr wrap="square" lIns="0" tIns="0" rIns="0" bIns="0" rtlCol="0" anchor="t"/>
          <a:lstStyle/>
          <a:p>
            <a:pPr algn="ctr" indent="0" marL="0">
              <a:buNone/>
            </a:pPr>
            <a:r>
              <a:rPr lang="en-US" sz="1600" b="1" dirty="0">
                <a:solidFill>
                  <a:schemeClr val="tx1"/>
                </a:solidFill>
              </a:rPr>
              <a:t>Choose a plan</a:t>
            </a:r>
            <a:endParaRPr lang="en-US" sz="1600" dirty="0"/>
          </a:p>
        </p:txBody>
      </p:sp>
      <p:sp>
        <p:nvSpPr>
          <p:cNvPr id="28" name="Text 22"/>
          <p:cNvSpPr txBox="1"/>
          <p:nvPr/>
        </p:nvSpPr>
        <p:spPr>
          <a:xfrm>
            <a:off x="6233008" y="3429000"/>
            <a:ext cx="1574749" cy="822960"/>
          </a:xfrm>
          <a:prstGeom prst="rect">
            <a:avLst/>
          </a:prstGeom>
          <a:noFill/>
          <a:ln/>
        </p:spPr>
        <p:txBody>
          <a:bodyPr wrap="square" lIns="0" tIns="0" rIns="0" bIns="0" rtlCol="0" anchor="t"/>
          <a:lstStyle/>
          <a:p>
            <a:pPr algn="ctr" indent="0" marL="0">
              <a:buNone/>
            </a:pPr>
            <a:r>
              <a:rPr lang="en-US" sz="1300" dirty="0">
                <a:solidFill>
                  <a:schemeClr val="tx2"/>
                </a:solidFill>
              </a:rPr>
              <a:t>Silver or Gold, EMI or one-time.</a:t>
            </a:r>
            <a:endParaRPr lang="en-US" sz="1300" dirty="0"/>
          </a:p>
        </p:txBody>
      </p:sp>
      <p:sp>
        <p:nvSpPr>
          <p:cNvPr id="29" name="Pay icon circle"/>
          <p:cNvSpPr/>
          <p:nvPr/>
        </p:nvSpPr>
        <p:spPr>
          <a:xfrm>
            <a:off x="8366531" y="1828800"/>
            <a:ext cx="1005840" cy="1005840"/>
          </a:xfrm>
          <a:prstGeom prst="ellipse">
            <a:avLst/>
          </a:prstGeom>
          <a:solidFill>
            <a:schemeClr val="accent5"/>
          </a:solidFill>
          <a:ln/>
        </p:spPr>
      </p:sp>
      <p:pic>
        <p:nvPicPr>
          <p:cNvPr id="30" name="Pay icon" descr="Pay">    </p:cNvPr>
          <p:cNvPicPr>
            <a:picLocks noChangeAspect="1"/>
          </p:cNvPicPr>
          <p:nvPr/>
        </p:nvPicPr>
        <p:blipFill>
          <a:blip r:embed="rId5"/>
          <a:stretch>
            <a:fillRect/>
          </a:stretch>
        </p:blipFill>
        <p:spPr>
          <a:xfrm>
            <a:off x="8607933" y="2070202"/>
            <a:ext cx="523037" cy="523037"/>
          </a:xfrm>
          <a:prstGeom prst="rect">
            <a:avLst/>
          </a:prstGeom>
        </p:spPr>
      </p:pic>
      <p:sp>
        <p:nvSpPr>
          <p:cNvPr id="31" name="Step 5 badge"/>
          <p:cNvSpPr/>
          <p:nvPr/>
        </p:nvSpPr>
        <p:spPr>
          <a:xfrm>
            <a:off x="9098051" y="1737360"/>
            <a:ext cx="384048" cy="384048"/>
          </a:xfrm>
          <a:prstGeom prst="ellipse">
            <a:avLst/>
          </a:prstGeom>
          <a:solidFill>
            <a:schemeClr val="tx1"/>
          </a:solidFill>
          <a:ln w="19050">
            <a:solidFill>
              <a:schemeClr val="bg1"/>
            </a:solidFill>
            <a:prstDash val="solid"/>
          </a:ln>
        </p:spPr>
      </p:sp>
      <p:sp>
        <p:nvSpPr>
          <p:cNvPr id="32" name="Text 25"/>
          <p:cNvSpPr txBox="1"/>
          <p:nvPr/>
        </p:nvSpPr>
        <p:spPr>
          <a:xfrm>
            <a:off x="9098051"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3" name="Text 26"/>
          <p:cNvSpPr txBox="1"/>
          <p:nvPr/>
        </p:nvSpPr>
        <p:spPr>
          <a:xfrm>
            <a:off x="8036357" y="3017520"/>
            <a:ext cx="1666189" cy="365760"/>
          </a:xfrm>
          <a:prstGeom prst="rect">
            <a:avLst/>
          </a:prstGeom>
          <a:noFill/>
          <a:ln/>
        </p:spPr>
        <p:txBody>
          <a:bodyPr wrap="square" lIns="0" tIns="0" rIns="0" bIns="0" rtlCol="0" anchor="t"/>
          <a:lstStyle/>
          <a:p>
            <a:pPr algn="ctr" indent="0" marL="0">
              <a:buNone/>
            </a:pPr>
            <a:r>
              <a:rPr lang="en-US" sz="1600" b="1" dirty="0">
                <a:solidFill>
                  <a:schemeClr val="tx1"/>
                </a:solidFill>
              </a:rPr>
              <a:t>Pay</a:t>
            </a:r>
            <a:endParaRPr lang="en-US" sz="1600" dirty="0"/>
          </a:p>
        </p:txBody>
      </p:sp>
      <p:sp>
        <p:nvSpPr>
          <p:cNvPr id="34" name="Text 27"/>
          <p:cNvSpPr txBox="1"/>
          <p:nvPr/>
        </p:nvSpPr>
        <p:spPr>
          <a:xfrm>
            <a:off x="8082077" y="3429000"/>
            <a:ext cx="1574749" cy="822960"/>
          </a:xfrm>
          <a:prstGeom prst="rect">
            <a:avLst/>
          </a:prstGeom>
          <a:noFill/>
          <a:ln/>
        </p:spPr>
        <p:txBody>
          <a:bodyPr wrap="square" lIns="0" tIns="0" rIns="0" bIns="0" rtlCol="0" anchor="t"/>
          <a:lstStyle/>
          <a:p>
            <a:pPr algn="ctr" indent="0" marL="0">
              <a:buNone/>
            </a:pPr>
            <a:r>
              <a:rPr lang="en-US" sz="1300" dirty="0">
                <a:solidFill>
                  <a:schemeClr val="tx2"/>
                </a:solidFill>
              </a:rPr>
              <a:t>Cash, or GPay / UPI with Ref ID + screenshot.</a:t>
            </a:r>
            <a:endParaRPr lang="en-US" sz="1300" dirty="0"/>
          </a:p>
        </p:txBody>
      </p:sp>
      <p:sp>
        <p:nvSpPr>
          <p:cNvPr id="35" name="Get approved icon circle"/>
          <p:cNvSpPr/>
          <p:nvPr/>
        </p:nvSpPr>
        <p:spPr>
          <a:xfrm>
            <a:off x="10215601" y="1828800"/>
            <a:ext cx="1005840" cy="1005840"/>
          </a:xfrm>
          <a:prstGeom prst="ellipse">
            <a:avLst/>
          </a:prstGeom>
          <a:solidFill>
            <a:schemeClr val="accent2"/>
          </a:solidFill>
          <a:ln/>
        </p:spPr>
      </p:sp>
      <p:pic>
        <p:nvPicPr>
          <p:cNvPr id="36" name="Get approved icon" descr="Get approved">    </p:cNvPr>
          <p:cNvPicPr>
            <a:picLocks noChangeAspect="1"/>
          </p:cNvPicPr>
          <p:nvPr/>
        </p:nvPicPr>
        <p:blipFill>
          <a:blip r:embed="rId6"/>
          <a:stretch>
            <a:fillRect/>
          </a:stretch>
        </p:blipFill>
        <p:spPr>
          <a:xfrm>
            <a:off x="10457002" y="2070202"/>
            <a:ext cx="523037" cy="523037"/>
          </a:xfrm>
          <a:prstGeom prst="rect">
            <a:avLst/>
          </a:prstGeom>
        </p:spPr>
      </p:pic>
      <p:sp>
        <p:nvSpPr>
          <p:cNvPr id="37" name="Step 6 badge"/>
          <p:cNvSpPr/>
          <p:nvPr/>
        </p:nvSpPr>
        <p:spPr>
          <a:xfrm>
            <a:off x="10947121" y="1737360"/>
            <a:ext cx="384048" cy="384048"/>
          </a:xfrm>
          <a:prstGeom prst="ellipse">
            <a:avLst/>
          </a:prstGeom>
          <a:solidFill>
            <a:schemeClr val="tx1"/>
          </a:solidFill>
          <a:ln w="19050">
            <a:solidFill>
              <a:schemeClr val="bg1"/>
            </a:solidFill>
            <a:prstDash val="solid"/>
          </a:ln>
        </p:spPr>
      </p:sp>
      <p:sp>
        <p:nvSpPr>
          <p:cNvPr id="38" name="Text 30"/>
          <p:cNvSpPr txBox="1"/>
          <p:nvPr/>
        </p:nvSpPr>
        <p:spPr>
          <a:xfrm>
            <a:off x="10947121"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9" name="Text 31"/>
          <p:cNvSpPr txBox="1"/>
          <p:nvPr/>
        </p:nvSpPr>
        <p:spPr>
          <a:xfrm>
            <a:off x="9885426" y="3017520"/>
            <a:ext cx="1666189" cy="365760"/>
          </a:xfrm>
          <a:prstGeom prst="rect">
            <a:avLst/>
          </a:prstGeom>
          <a:noFill/>
          <a:ln/>
        </p:spPr>
        <p:txBody>
          <a:bodyPr wrap="square" lIns="0" tIns="0" rIns="0" bIns="0" rtlCol="0" anchor="t"/>
          <a:lstStyle/>
          <a:p>
            <a:pPr algn="ctr" indent="0" marL="0">
              <a:buNone/>
            </a:pPr>
            <a:r>
              <a:rPr lang="en-US" sz="1600" b="1" dirty="0">
                <a:solidFill>
                  <a:schemeClr val="tx1"/>
                </a:solidFill>
              </a:rPr>
              <a:t>Get approved</a:t>
            </a:r>
            <a:endParaRPr lang="en-US" sz="1600" dirty="0"/>
          </a:p>
        </p:txBody>
      </p:sp>
      <p:sp>
        <p:nvSpPr>
          <p:cNvPr id="40" name="Text 32"/>
          <p:cNvSpPr txBox="1"/>
          <p:nvPr/>
        </p:nvSpPr>
        <p:spPr>
          <a:xfrm>
            <a:off x="9931146" y="3429000"/>
            <a:ext cx="1574749" cy="822960"/>
          </a:xfrm>
          <a:prstGeom prst="rect">
            <a:avLst/>
          </a:prstGeom>
          <a:noFill/>
          <a:ln/>
        </p:spPr>
        <p:txBody>
          <a:bodyPr wrap="square" lIns="0" tIns="0" rIns="0" bIns="0" rtlCol="0" anchor="t"/>
          <a:lstStyle/>
          <a:p>
            <a:pPr algn="ctr" indent="0" marL="0">
              <a:buNone/>
            </a:pPr>
            <a:r>
              <a:rPr lang="en-US" sz="1300" dirty="0">
                <a:solidFill>
                  <a:schemeClr val="tx2"/>
                </a:solidFill>
              </a:rPr>
              <a:t>You get your Customer ID and can log in.</a:t>
            </a:r>
            <a:endParaRPr lang="en-US" sz="1300" dirty="0"/>
          </a:p>
        </p:txBody>
      </p:sp>
      <p:sp>
        <p:nvSpPr>
          <p:cNvPr id="41" name="Your login card"/>
          <p:cNvSpPr/>
          <p:nvPr/>
        </p:nvSpPr>
        <p:spPr>
          <a:xfrm>
            <a:off x="548640" y="4572000"/>
            <a:ext cx="5364328" cy="1554480"/>
          </a:xfrm>
          <a:prstGeom prst="roundRect">
            <a:avLst>
              <a:gd name="adj" fmla="val 7059"/>
            </a:avLst>
          </a:prstGeom>
          <a:solidFill>
            <a:schemeClr val="bg2"/>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42" name="Your login icon circle"/>
          <p:cNvSpPr/>
          <p:nvPr/>
        </p:nvSpPr>
        <p:spPr>
          <a:xfrm>
            <a:off x="822960" y="4800600"/>
            <a:ext cx="594360" cy="594360"/>
          </a:xfrm>
          <a:prstGeom prst="ellipse">
            <a:avLst/>
          </a:prstGeom>
          <a:solidFill>
            <a:schemeClr val="accent1"/>
          </a:solidFill>
          <a:ln/>
        </p:spPr>
      </p:sp>
      <p:pic>
        <p:nvPicPr>
          <p:cNvPr id="43" name="Your login icon" descr="Your login">    </p:cNvPr>
          <p:cNvPicPr>
            <a:picLocks noChangeAspect="1"/>
          </p:cNvPicPr>
          <p:nvPr/>
        </p:nvPicPr>
        <p:blipFill>
          <a:blip r:embed="rId7"/>
          <a:stretch>
            <a:fillRect/>
          </a:stretch>
        </p:blipFill>
        <p:spPr>
          <a:xfrm>
            <a:off x="965606" y="4943246"/>
            <a:ext cx="309067" cy="309067"/>
          </a:xfrm>
          <a:prstGeom prst="rect">
            <a:avLst/>
          </a:prstGeom>
        </p:spPr>
      </p:pic>
      <p:sp>
        <p:nvSpPr>
          <p:cNvPr id="44" name="Text 35"/>
          <p:cNvSpPr txBox="1"/>
          <p:nvPr/>
        </p:nvSpPr>
        <p:spPr>
          <a:xfrm>
            <a:off x="1600200" y="4773168"/>
            <a:ext cx="4084168" cy="365760"/>
          </a:xfrm>
          <a:prstGeom prst="rect">
            <a:avLst/>
          </a:prstGeom>
          <a:noFill/>
          <a:ln/>
        </p:spPr>
        <p:txBody>
          <a:bodyPr wrap="square" lIns="0" tIns="0" rIns="0" bIns="0" rtlCol="0" anchor="t"/>
          <a:lstStyle/>
          <a:p>
            <a:pPr indent="0" marL="0">
              <a:buNone/>
            </a:pPr>
            <a:r>
              <a:rPr lang="en-US" sz="1600" b="1" dirty="0">
                <a:solidFill>
                  <a:schemeClr val="tx1"/>
                </a:solidFill>
              </a:rPr>
              <a:t>Your login</a:t>
            </a:r>
            <a:endParaRPr lang="en-US" sz="1600" dirty="0"/>
          </a:p>
        </p:txBody>
      </p:sp>
      <p:sp>
        <p:nvSpPr>
          <p:cNvPr id="45" name="Text 36"/>
          <p:cNvSpPr txBox="1"/>
          <p:nvPr/>
        </p:nvSpPr>
        <p:spPr>
          <a:xfrm>
            <a:off x="1600200" y="5138928"/>
            <a:ext cx="4084168" cy="914400"/>
          </a:xfrm>
          <a:prstGeom prst="rect">
            <a:avLst/>
          </a:prstGeom>
          <a:noFill/>
          <a:ln/>
        </p:spPr>
        <p:txBody>
          <a:bodyPr wrap="square" lIns="0" tIns="0" rIns="0" bIns="0" rtlCol="0" anchor="t"/>
          <a:lstStyle/>
          <a:p>
            <a:pPr indent="0" marL="0">
              <a:buNone/>
            </a:pPr>
            <a:r>
              <a:rPr lang="en-US" sz="1300" dirty="0">
                <a:solidFill>
                  <a:schemeClr val="tx2"/>
                </a:solidFill>
              </a:rPr>
              <a:t>Customer ID + password. Your first password is your Customer ID — change it after your first login.</a:t>
            </a:r>
            <a:endParaRPr lang="en-US" sz="1300" dirty="0"/>
          </a:p>
        </p:txBody>
      </p:sp>
      <p:sp>
        <p:nvSpPr>
          <p:cNvPr id="46" name="Sponsor vs. placement card"/>
          <p:cNvSpPr/>
          <p:nvPr/>
        </p:nvSpPr>
        <p:spPr>
          <a:xfrm>
            <a:off x="6278728" y="4572000"/>
            <a:ext cx="5364328" cy="1554480"/>
          </a:xfrm>
          <a:prstGeom prst="roundRect">
            <a:avLst>
              <a:gd name="adj" fmla="val 7059"/>
            </a:avLst>
          </a:prstGeom>
          <a:solidFill>
            <a:schemeClr val="bg2"/>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47" name="Sponsor vs. placement icon circle"/>
          <p:cNvSpPr/>
          <p:nvPr/>
        </p:nvSpPr>
        <p:spPr>
          <a:xfrm>
            <a:off x="6553048" y="4800600"/>
            <a:ext cx="594360" cy="594360"/>
          </a:xfrm>
          <a:prstGeom prst="ellipse">
            <a:avLst/>
          </a:prstGeom>
          <a:solidFill>
            <a:schemeClr val="accent4"/>
          </a:solidFill>
          <a:ln/>
        </p:spPr>
      </p:sp>
      <p:pic>
        <p:nvPicPr>
          <p:cNvPr id="48" name="Sponsor vs. placement icon" descr="Sponsor vs. placement">    </p:cNvPr>
          <p:cNvPicPr>
            <a:picLocks noChangeAspect="1"/>
          </p:cNvPicPr>
          <p:nvPr/>
        </p:nvPicPr>
        <p:blipFill>
          <a:blip r:embed="rId8"/>
          <a:stretch>
            <a:fillRect/>
          </a:stretch>
        </p:blipFill>
        <p:spPr>
          <a:xfrm>
            <a:off x="6695694" y="4943246"/>
            <a:ext cx="309067" cy="309067"/>
          </a:xfrm>
          <a:prstGeom prst="rect">
            <a:avLst/>
          </a:prstGeom>
        </p:spPr>
      </p:pic>
      <p:sp>
        <p:nvSpPr>
          <p:cNvPr id="49" name="Text 39"/>
          <p:cNvSpPr txBox="1"/>
          <p:nvPr/>
        </p:nvSpPr>
        <p:spPr>
          <a:xfrm>
            <a:off x="7330288" y="4773168"/>
            <a:ext cx="4084168" cy="365760"/>
          </a:xfrm>
          <a:prstGeom prst="rect">
            <a:avLst/>
          </a:prstGeom>
          <a:noFill/>
          <a:ln/>
        </p:spPr>
        <p:txBody>
          <a:bodyPr wrap="square" lIns="0" tIns="0" rIns="0" bIns="0" rtlCol="0" anchor="t"/>
          <a:lstStyle/>
          <a:p>
            <a:pPr indent="0" marL="0">
              <a:buNone/>
            </a:pPr>
            <a:r>
              <a:rPr lang="en-US" sz="1600" b="1" dirty="0">
                <a:solidFill>
                  <a:schemeClr val="tx1"/>
                </a:solidFill>
              </a:rPr>
              <a:t>Sponsor vs. placement</a:t>
            </a:r>
            <a:endParaRPr lang="en-US" sz="1600" dirty="0"/>
          </a:p>
        </p:txBody>
      </p:sp>
      <p:sp>
        <p:nvSpPr>
          <p:cNvPr id="50" name="Text 40"/>
          <p:cNvSpPr txBox="1"/>
          <p:nvPr/>
        </p:nvSpPr>
        <p:spPr>
          <a:xfrm>
            <a:off x="7330288" y="5138928"/>
            <a:ext cx="4084168" cy="914400"/>
          </a:xfrm>
          <a:prstGeom prst="rect">
            <a:avLst/>
          </a:prstGeom>
          <a:noFill/>
          <a:ln/>
        </p:spPr>
        <p:txBody>
          <a:bodyPr wrap="square" lIns="0" tIns="0" rIns="0" bIns="0" rtlCol="0" anchor="t"/>
          <a:lstStyle/>
          <a:p>
            <a:pPr indent="0" marL="0">
              <a:buNone/>
            </a:pPr>
            <a:r>
              <a:rPr lang="en-US" sz="1300" dirty="0">
                <a:solidFill>
                  <a:schemeClr val="tx2"/>
                </a:solidFill>
              </a:rPr>
              <a:t>Your sponsor is who introduced you (used for Level Income). Left/Right is your place in the tree (used for Pair Rewards and Booster).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Paying your EMIs</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Simple rules that keep your plan — and your rewards — running.</a:t>
            </a:r>
            <a:endParaRPr lang="en-US" sz="1600" dirty="0"/>
          </a:p>
        </p:txBody>
      </p:sp>
      <p:sp>
        <p:nvSpPr>
          <p:cNvPr id="4" name="Same date every month card"/>
          <p:cNvSpPr/>
          <p:nvPr/>
        </p:nvSpPr>
        <p:spPr>
          <a:xfrm>
            <a:off x="548640" y="1691640"/>
            <a:ext cx="5364328" cy="1463040"/>
          </a:xfrm>
          <a:prstGeom prst="roundRect">
            <a:avLst>
              <a:gd name="adj" fmla="val 7500"/>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Same date every month icon circle"/>
          <p:cNvSpPr/>
          <p:nvPr/>
        </p:nvSpPr>
        <p:spPr>
          <a:xfrm>
            <a:off x="822960" y="1965960"/>
            <a:ext cx="777240" cy="777240"/>
          </a:xfrm>
          <a:prstGeom prst="ellipse">
            <a:avLst/>
          </a:prstGeom>
          <a:solidFill>
            <a:schemeClr val="accent1"/>
          </a:solidFill>
          <a:ln/>
        </p:spPr>
      </p:sp>
      <p:pic>
        <p:nvPicPr>
          <p:cNvPr id="6" name="Same date every month icon" descr="Same date every month">    </p:cNvPr>
          <p:cNvPicPr>
            <a:picLocks noChangeAspect="1"/>
          </p:cNvPicPr>
          <p:nvPr/>
        </p:nvPicPr>
        <p:blipFill>
          <a:blip r:embed="rId1"/>
          <a:stretch>
            <a:fillRect/>
          </a:stretch>
        </p:blipFill>
        <p:spPr>
          <a:xfrm>
            <a:off x="1009498" y="2152498"/>
            <a:ext cx="404165" cy="404165"/>
          </a:xfrm>
          <a:prstGeom prst="rect">
            <a:avLst/>
          </a:prstGeom>
        </p:spPr>
      </p:pic>
      <p:sp>
        <p:nvSpPr>
          <p:cNvPr id="7" name="Text 4"/>
          <p:cNvSpPr txBox="1"/>
          <p:nvPr/>
        </p:nvSpPr>
        <p:spPr>
          <a:xfrm>
            <a:off x="1828800" y="1920240"/>
            <a:ext cx="3809848" cy="365760"/>
          </a:xfrm>
          <a:prstGeom prst="rect">
            <a:avLst/>
          </a:prstGeom>
          <a:noFill/>
          <a:ln/>
        </p:spPr>
        <p:txBody>
          <a:bodyPr wrap="square" lIns="0" tIns="0" rIns="0" bIns="0" rtlCol="0" anchor="t"/>
          <a:lstStyle/>
          <a:p>
            <a:pPr indent="0" marL="0">
              <a:buNone/>
            </a:pPr>
            <a:r>
              <a:rPr lang="en-US" sz="1800" b="1" dirty="0">
                <a:solidFill>
                  <a:schemeClr val="tx1"/>
                </a:solidFill>
              </a:rPr>
              <a:t>Same date every month</a:t>
            </a:r>
            <a:endParaRPr lang="en-US" sz="1800" dirty="0"/>
          </a:p>
        </p:txBody>
      </p:sp>
      <p:sp>
        <p:nvSpPr>
          <p:cNvPr id="8" name="Text 5"/>
          <p:cNvSpPr txBox="1"/>
          <p:nvPr/>
        </p:nvSpPr>
        <p:spPr>
          <a:xfrm>
            <a:off x="1828800" y="2313432"/>
            <a:ext cx="3809848" cy="777240"/>
          </a:xfrm>
          <a:prstGeom prst="rect">
            <a:avLst/>
          </a:prstGeom>
          <a:noFill/>
          <a:ln/>
        </p:spPr>
        <p:txBody>
          <a:bodyPr wrap="square" lIns="0" tIns="0" rIns="0" bIns="0" rtlCol="0" anchor="t"/>
          <a:lstStyle/>
          <a:p>
            <a:pPr indent="0" marL="0">
              <a:buNone/>
            </a:pPr>
            <a:r>
              <a:rPr lang="en-US" sz="1350" dirty="0">
                <a:solidFill>
                  <a:schemeClr val="tx2"/>
                </a:solidFill>
              </a:rPr>
              <a:t>Your first EMI is due on your activation date; each next EMI falls on the same date of the following month.</a:t>
            </a:r>
            <a:endParaRPr lang="en-US" sz="1350" dirty="0"/>
          </a:p>
        </p:txBody>
      </p:sp>
      <p:sp>
        <p:nvSpPr>
          <p:cNvPr id="9" name="One at a time — or all at once card"/>
          <p:cNvSpPr/>
          <p:nvPr/>
        </p:nvSpPr>
        <p:spPr>
          <a:xfrm>
            <a:off x="6278728" y="1691640"/>
            <a:ext cx="5364328" cy="1463040"/>
          </a:xfrm>
          <a:prstGeom prst="roundRect">
            <a:avLst>
              <a:gd name="adj" fmla="val 7500"/>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0" name="One at a time — or all at once icon circle"/>
          <p:cNvSpPr/>
          <p:nvPr/>
        </p:nvSpPr>
        <p:spPr>
          <a:xfrm>
            <a:off x="6553048" y="1965960"/>
            <a:ext cx="777240" cy="777240"/>
          </a:xfrm>
          <a:prstGeom prst="ellipse">
            <a:avLst/>
          </a:prstGeom>
          <a:solidFill>
            <a:schemeClr val="accent6"/>
          </a:solidFill>
          <a:ln/>
        </p:spPr>
      </p:sp>
      <p:pic>
        <p:nvPicPr>
          <p:cNvPr id="11" name="One at a time — or all at once icon" descr="One at a time — or all at once">    </p:cNvPr>
          <p:cNvPicPr>
            <a:picLocks noChangeAspect="1"/>
          </p:cNvPicPr>
          <p:nvPr/>
        </p:nvPicPr>
        <p:blipFill>
          <a:blip r:embed="rId2"/>
          <a:stretch>
            <a:fillRect/>
          </a:stretch>
        </p:blipFill>
        <p:spPr>
          <a:xfrm>
            <a:off x="6739585" y="2152498"/>
            <a:ext cx="404165" cy="404165"/>
          </a:xfrm>
          <a:prstGeom prst="rect">
            <a:avLst/>
          </a:prstGeom>
        </p:spPr>
      </p:pic>
      <p:sp>
        <p:nvSpPr>
          <p:cNvPr id="12" name="Text 8"/>
          <p:cNvSpPr txBox="1"/>
          <p:nvPr/>
        </p:nvSpPr>
        <p:spPr>
          <a:xfrm>
            <a:off x="7558888" y="1920240"/>
            <a:ext cx="3809848" cy="365760"/>
          </a:xfrm>
          <a:prstGeom prst="rect">
            <a:avLst/>
          </a:prstGeom>
          <a:noFill/>
          <a:ln/>
        </p:spPr>
        <p:txBody>
          <a:bodyPr wrap="square" lIns="0" tIns="0" rIns="0" bIns="0" rtlCol="0" anchor="t"/>
          <a:lstStyle/>
          <a:p>
            <a:pPr indent="0" marL="0">
              <a:buNone/>
            </a:pPr>
            <a:r>
              <a:rPr lang="en-US" sz="1800" b="1" dirty="0">
                <a:solidFill>
                  <a:schemeClr val="tx1"/>
                </a:solidFill>
              </a:rPr>
              <a:t>One at a time — or all at once</a:t>
            </a:r>
            <a:endParaRPr lang="en-US" sz="1800" dirty="0"/>
          </a:p>
        </p:txBody>
      </p:sp>
      <p:sp>
        <p:nvSpPr>
          <p:cNvPr id="13" name="Text 9"/>
          <p:cNvSpPr txBox="1"/>
          <p:nvPr/>
        </p:nvSpPr>
        <p:spPr>
          <a:xfrm>
            <a:off x="7558888" y="2313432"/>
            <a:ext cx="3809848" cy="777240"/>
          </a:xfrm>
          <a:prstGeom prst="rect">
            <a:avLst/>
          </a:prstGeom>
          <a:noFill/>
          <a:ln/>
        </p:spPr>
        <p:txBody>
          <a:bodyPr wrap="square" lIns="0" tIns="0" rIns="0" bIns="0" rtlCol="0" anchor="t"/>
          <a:lstStyle/>
          <a:p>
            <a:pPr indent="0" marL="0">
              <a:buNone/>
            </a:pPr>
            <a:r>
              <a:rPr lang="en-US" sz="1350" dirty="0">
                <a:solidFill>
                  <a:schemeClr val="tx2"/>
                </a:solidFill>
              </a:rPr>
              <a:t>Pay the next due EMI, or use “Pay All Remaining EMIs” to finish the plan in one payment.</a:t>
            </a:r>
            <a:endParaRPr lang="en-US" sz="1350" dirty="0"/>
          </a:p>
        </p:txBody>
      </p:sp>
      <p:sp>
        <p:nvSpPr>
          <p:cNvPr id="14" name="Cash or GPay / UPI card"/>
          <p:cNvSpPr/>
          <p:nvPr/>
        </p:nvSpPr>
        <p:spPr>
          <a:xfrm>
            <a:off x="548640" y="3383280"/>
            <a:ext cx="5364328" cy="1463040"/>
          </a:xfrm>
          <a:prstGeom prst="roundRect">
            <a:avLst>
              <a:gd name="adj" fmla="val 7500"/>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5" name="Cash or GPay / UPI icon circle"/>
          <p:cNvSpPr/>
          <p:nvPr/>
        </p:nvSpPr>
        <p:spPr>
          <a:xfrm>
            <a:off x="822960" y="3657600"/>
            <a:ext cx="777240" cy="777240"/>
          </a:xfrm>
          <a:prstGeom prst="ellipse">
            <a:avLst/>
          </a:prstGeom>
          <a:solidFill>
            <a:schemeClr val="accent4"/>
          </a:solidFill>
          <a:ln/>
        </p:spPr>
      </p:sp>
      <p:pic>
        <p:nvPicPr>
          <p:cNvPr id="16" name="Cash or GPay / UPI icon" descr="Cash or GPay / UPI">    </p:cNvPr>
          <p:cNvPicPr>
            <a:picLocks noChangeAspect="1"/>
          </p:cNvPicPr>
          <p:nvPr/>
        </p:nvPicPr>
        <p:blipFill>
          <a:blip r:embed="rId3"/>
          <a:stretch>
            <a:fillRect/>
          </a:stretch>
        </p:blipFill>
        <p:spPr>
          <a:xfrm>
            <a:off x="1009498" y="3844138"/>
            <a:ext cx="404165" cy="404165"/>
          </a:xfrm>
          <a:prstGeom prst="rect">
            <a:avLst/>
          </a:prstGeom>
        </p:spPr>
      </p:pic>
      <p:sp>
        <p:nvSpPr>
          <p:cNvPr id="17" name="Text 12"/>
          <p:cNvSpPr txBox="1"/>
          <p:nvPr/>
        </p:nvSpPr>
        <p:spPr>
          <a:xfrm>
            <a:off x="1828800" y="3611880"/>
            <a:ext cx="3809848" cy="365760"/>
          </a:xfrm>
          <a:prstGeom prst="rect">
            <a:avLst/>
          </a:prstGeom>
          <a:noFill/>
          <a:ln/>
        </p:spPr>
        <p:txBody>
          <a:bodyPr wrap="square" lIns="0" tIns="0" rIns="0" bIns="0" rtlCol="0" anchor="t"/>
          <a:lstStyle/>
          <a:p>
            <a:pPr indent="0" marL="0">
              <a:buNone/>
            </a:pPr>
            <a:r>
              <a:rPr lang="en-US" sz="1800" b="1" dirty="0">
                <a:solidFill>
                  <a:schemeClr val="tx1"/>
                </a:solidFill>
              </a:rPr>
              <a:t>Cash or GPay / UPI</a:t>
            </a:r>
            <a:endParaRPr lang="en-US" sz="1800" dirty="0"/>
          </a:p>
        </p:txBody>
      </p:sp>
      <p:sp>
        <p:nvSpPr>
          <p:cNvPr id="18" name="Text 13"/>
          <p:cNvSpPr txBox="1"/>
          <p:nvPr/>
        </p:nvSpPr>
        <p:spPr>
          <a:xfrm>
            <a:off x="1828800" y="4005072"/>
            <a:ext cx="3809848" cy="777240"/>
          </a:xfrm>
          <a:prstGeom prst="rect">
            <a:avLst/>
          </a:prstGeom>
          <a:noFill/>
          <a:ln/>
        </p:spPr>
        <p:txBody>
          <a:bodyPr wrap="square" lIns="0" tIns="0" rIns="0" bIns="0" rtlCol="0" anchor="t"/>
          <a:lstStyle/>
          <a:p>
            <a:pPr indent="0" marL="0">
              <a:buNone/>
            </a:pPr>
            <a:r>
              <a:rPr lang="en-US" sz="1350" dirty="0">
                <a:solidFill>
                  <a:schemeClr val="tx2"/>
                </a:solidFill>
              </a:rPr>
              <a:t>For GPay / UPI, enter the transaction Ref ID and upload the screenshot. The company approves every payment.</a:t>
            </a:r>
            <a:endParaRPr lang="en-US" sz="1350" dirty="0"/>
          </a:p>
        </p:txBody>
      </p:sp>
      <p:sp>
        <p:nvSpPr>
          <p:cNvPr id="19" name="Don't go overdue card"/>
          <p:cNvSpPr/>
          <p:nvPr/>
        </p:nvSpPr>
        <p:spPr>
          <a:xfrm>
            <a:off x="6278728" y="3383280"/>
            <a:ext cx="5364328" cy="1463040"/>
          </a:xfrm>
          <a:prstGeom prst="roundRect">
            <a:avLst>
              <a:gd name="adj" fmla="val 7500"/>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0" name="Don't go overdue icon circle"/>
          <p:cNvSpPr/>
          <p:nvPr/>
        </p:nvSpPr>
        <p:spPr>
          <a:xfrm>
            <a:off x="6553048" y="3657600"/>
            <a:ext cx="777240" cy="777240"/>
          </a:xfrm>
          <a:prstGeom prst="ellipse">
            <a:avLst/>
          </a:prstGeom>
          <a:solidFill>
            <a:schemeClr val="accent2"/>
          </a:solidFill>
          <a:ln/>
        </p:spPr>
      </p:sp>
      <p:pic>
        <p:nvPicPr>
          <p:cNvPr id="21" name="Don't go overdue icon" descr="Don't go overdue">    </p:cNvPr>
          <p:cNvPicPr>
            <a:picLocks noChangeAspect="1"/>
          </p:cNvPicPr>
          <p:nvPr/>
        </p:nvPicPr>
        <p:blipFill>
          <a:blip r:embed="rId4"/>
          <a:stretch>
            <a:fillRect/>
          </a:stretch>
        </p:blipFill>
        <p:spPr>
          <a:xfrm>
            <a:off x="6739585" y="3844138"/>
            <a:ext cx="404165" cy="404165"/>
          </a:xfrm>
          <a:prstGeom prst="rect">
            <a:avLst/>
          </a:prstGeom>
        </p:spPr>
      </p:pic>
      <p:sp>
        <p:nvSpPr>
          <p:cNvPr id="22" name="Text 16"/>
          <p:cNvSpPr txBox="1"/>
          <p:nvPr/>
        </p:nvSpPr>
        <p:spPr>
          <a:xfrm>
            <a:off x="7558888" y="3611880"/>
            <a:ext cx="3809848" cy="365760"/>
          </a:xfrm>
          <a:prstGeom prst="rect">
            <a:avLst/>
          </a:prstGeom>
          <a:noFill/>
          <a:ln/>
        </p:spPr>
        <p:txBody>
          <a:bodyPr wrap="square" lIns="0" tIns="0" rIns="0" bIns="0" rtlCol="0" anchor="t"/>
          <a:lstStyle/>
          <a:p>
            <a:pPr indent="0" marL="0">
              <a:buNone/>
            </a:pPr>
            <a:r>
              <a:rPr lang="en-US" sz="1800" b="1" dirty="0">
                <a:solidFill>
                  <a:schemeClr val="tx1"/>
                </a:solidFill>
              </a:rPr>
              <a:t>Don't go overdue</a:t>
            </a:r>
            <a:endParaRPr lang="en-US" sz="1800" dirty="0"/>
          </a:p>
        </p:txBody>
      </p:sp>
      <p:sp>
        <p:nvSpPr>
          <p:cNvPr id="23" name="Text 17"/>
          <p:cNvSpPr txBox="1"/>
          <p:nvPr/>
        </p:nvSpPr>
        <p:spPr>
          <a:xfrm>
            <a:off x="7558888" y="4005072"/>
            <a:ext cx="3809848" cy="777240"/>
          </a:xfrm>
          <a:prstGeom prst="rect">
            <a:avLst/>
          </a:prstGeom>
          <a:noFill/>
          <a:ln/>
        </p:spPr>
        <p:txBody>
          <a:bodyPr wrap="square" lIns="0" tIns="0" rIns="0" bIns="0" rtlCol="0" anchor="t"/>
          <a:lstStyle/>
          <a:p>
            <a:pPr indent="0" marL="0">
              <a:buNone/>
            </a:pPr>
            <a:r>
              <a:rPr lang="en-US" sz="1350" dirty="0">
                <a:solidFill>
                  <a:schemeClr val="tx2"/>
                </a:solidFill>
              </a:rPr>
              <a:t>An EMI is overdue the day after its due date. While any EMI is overdue, all your new earnings are held — released once you pay.</a:t>
            </a:r>
            <a:endParaRPr lang="en-US" sz="1350" dirty="0"/>
          </a:p>
        </p:txBody>
      </p:sp>
      <p:sp>
        <p:nvSpPr>
          <p:cNvPr id="24" name="Delivery band"/>
          <p:cNvSpPr/>
          <p:nvPr/>
        </p:nvSpPr>
        <p:spPr>
          <a:xfrm>
            <a:off x="548640" y="5166360"/>
            <a:ext cx="11094415" cy="914400"/>
          </a:xfrm>
          <a:prstGeom prst="roundRect">
            <a:avLst>
              <a:gd name="adj" fmla="val 12000"/>
            </a:avLst>
          </a:prstGeom>
          <a:solidFill>
            <a:schemeClr val="accent3"/>
          </a:solidFill>
          <a:ln/>
        </p:spPr>
      </p:sp>
      <p:sp>
        <p:nvSpPr>
          <p:cNvPr id="25" name="Delivery icon circle"/>
          <p:cNvSpPr/>
          <p:nvPr/>
        </p:nvSpPr>
        <p:spPr>
          <a:xfrm>
            <a:off x="777240" y="5276088"/>
            <a:ext cx="685800" cy="685800"/>
          </a:xfrm>
          <a:prstGeom prst="ellipse">
            <a:avLst/>
          </a:prstGeom>
          <a:solidFill>
            <a:schemeClr val="accent5"/>
          </a:solidFill>
          <a:ln/>
        </p:spPr>
      </p:sp>
      <p:pic>
        <p:nvPicPr>
          <p:cNvPr id="26" name="Delivery icon" descr="Delivery">    </p:cNvPr>
          <p:cNvPicPr>
            <a:picLocks noChangeAspect="1"/>
          </p:cNvPicPr>
          <p:nvPr/>
        </p:nvPicPr>
        <p:blipFill>
          <a:blip r:embed="rId5"/>
          <a:stretch>
            <a:fillRect/>
          </a:stretch>
        </p:blipFill>
        <p:spPr>
          <a:xfrm>
            <a:off x="941832" y="5440680"/>
            <a:ext cx="356616" cy="356616"/>
          </a:xfrm>
          <a:prstGeom prst="rect">
            <a:avLst/>
          </a:prstGeom>
        </p:spPr>
      </p:pic>
      <p:sp>
        <p:nvSpPr>
          <p:cNvPr id="27" name="Text 20"/>
          <p:cNvSpPr txBox="1"/>
          <p:nvPr/>
        </p:nvSpPr>
        <p:spPr>
          <a:xfrm>
            <a:off x="1691640" y="5166360"/>
            <a:ext cx="9722815" cy="914400"/>
          </a:xfrm>
          <a:prstGeom prst="rect">
            <a:avLst/>
          </a:prstGeom>
          <a:noFill/>
          <a:ln/>
        </p:spPr>
        <p:txBody>
          <a:bodyPr wrap="square" lIns="0" tIns="0" rIns="0" bIns="0" rtlCol="0" anchor="ctr"/>
          <a:lstStyle/>
          <a:p>
            <a:pPr indent="0" marL="0">
              <a:buNone/>
            </a:pPr>
            <a:r>
              <a:rPr lang="en-US" sz="1800" b="1" dirty="0">
                <a:solidFill>
                  <a:schemeClr val="tx1"/>
                </a:solidFill>
              </a:rPr>
              <a:t>After your last EMI, collect your jewellery from a GoldWave store.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Five ways to earn</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Your jewellery comes first. These rewards are extra, and they grow with real team activity.</a:t>
            </a:r>
            <a:endParaRPr lang="en-US" sz="1600" dirty="0"/>
          </a:p>
        </p:txBody>
      </p:sp>
      <p:sp>
        <p:nvSpPr>
          <p:cNvPr id="4" name="Level Income card"/>
          <p:cNvSpPr/>
          <p:nvPr/>
        </p:nvSpPr>
        <p:spPr>
          <a:xfrm>
            <a:off x="548640" y="1691640"/>
            <a:ext cx="2036003" cy="2514600"/>
          </a:xfrm>
          <a:prstGeom prst="roundRect">
            <a:avLst>
              <a:gd name="adj" fmla="val 53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Level Income icon circle"/>
          <p:cNvSpPr/>
          <p:nvPr/>
        </p:nvSpPr>
        <p:spPr>
          <a:xfrm>
            <a:off x="822960" y="1965960"/>
            <a:ext cx="777240" cy="777240"/>
          </a:xfrm>
          <a:prstGeom prst="ellipse">
            <a:avLst/>
          </a:prstGeom>
          <a:solidFill>
            <a:schemeClr val="accent6"/>
          </a:solidFill>
          <a:ln/>
        </p:spPr>
      </p:sp>
      <p:pic>
        <p:nvPicPr>
          <p:cNvPr id="6" name="Level Income icon" descr="Level Income">    </p:cNvPr>
          <p:cNvPicPr>
            <a:picLocks noChangeAspect="1"/>
          </p:cNvPicPr>
          <p:nvPr/>
        </p:nvPicPr>
        <p:blipFill>
          <a:blip r:embed="rId1"/>
          <a:stretch>
            <a:fillRect/>
          </a:stretch>
        </p:blipFill>
        <p:spPr>
          <a:xfrm>
            <a:off x="1009498" y="2152498"/>
            <a:ext cx="404165" cy="404165"/>
          </a:xfrm>
          <a:prstGeom prst="rect">
            <a:avLst/>
          </a:prstGeom>
        </p:spPr>
      </p:pic>
      <p:sp>
        <p:nvSpPr>
          <p:cNvPr id="7" name="Text 4"/>
          <p:cNvSpPr txBox="1"/>
          <p:nvPr/>
        </p:nvSpPr>
        <p:spPr>
          <a:xfrm>
            <a:off x="822960" y="2880360"/>
            <a:ext cx="1578803" cy="365760"/>
          </a:xfrm>
          <a:prstGeom prst="rect">
            <a:avLst/>
          </a:prstGeom>
          <a:noFill/>
          <a:ln/>
        </p:spPr>
        <p:txBody>
          <a:bodyPr wrap="square" lIns="0" tIns="0" rIns="0" bIns="0" rtlCol="0" anchor="t"/>
          <a:lstStyle/>
          <a:p>
            <a:pPr indent="0" marL="0">
              <a:buNone/>
            </a:pPr>
            <a:r>
              <a:rPr lang="en-US" sz="1600" b="1" dirty="0">
                <a:solidFill>
                  <a:schemeClr val="tx1"/>
                </a:solidFill>
              </a:rPr>
              <a:t>Level Income</a:t>
            </a:r>
            <a:endParaRPr lang="en-US" sz="1600" dirty="0"/>
          </a:p>
        </p:txBody>
      </p:sp>
      <p:sp>
        <p:nvSpPr>
          <p:cNvPr id="8" name="Text 5"/>
          <p:cNvSpPr txBox="1"/>
          <p:nvPr/>
        </p:nvSpPr>
        <p:spPr>
          <a:xfrm>
            <a:off x="822960" y="3273552"/>
            <a:ext cx="1578803" cy="868680"/>
          </a:xfrm>
          <a:prstGeom prst="rect">
            <a:avLst/>
          </a:prstGeom>
          <a:noFill/>
          <a:ln/>
        </p:spPr>
        <p:txBody>
          <a:bodyPr wrap="square" lIns="0" tIns="0" rIns="0" bIns="0" rtlCol="0" anchor="t"/>
          <a:lstStyle/>
          <a:p>
            <a:pPr indent="0" marL="0">
              <a:buNone/>
            </a:pPr>
            <a:r>
              <a:rPr lang="en-US" sz="1250" dirty="0">
                <a:solidFill>
                  <a:schemeClr val="tx2"/>
                </a:solidFill>
              </a:rPr>
              <a:t>A % of every plan payment in your sponsor chain, 12 levels deep.</a:t>
            </a:r>
            <a:endParaRPr lang="en-US" sz="1250" dirty="0"/>
          </a:p>
        </p:txBody>
      </p:sp>
      <p:sp>
        <p:nvSpPr>
          <p:cNvPr id="9" name="Pair Rewards card"/>
          <p:cNvSpPr/>
          <p:nvPr/>
        </p:nvSpPr>
        <p:spPr>
          <a:xfrm>
            <a:off x="2813243" y="1691640"/>
            <a:ext cx="2036003" cy="2514600"/>
          </a:xfrm>
          <a:prstGeom prst="roundRect">
            <a:avLst>
              <a:gd name="adj" fmla="val 53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0" name="Pair Rewards icon circle"/>
          <p:cNvSpPr/>
          <p:nvPr/>
        </p:nvSpPr>
        <p:spPr>
          <a:xfrm>
            <a:off x="3087563" y="1965960"/>
            <a:ext cx="777240" cy="777240"/>
          </a:xfrm>
          <a:prstGeom prst="ellipse">
            <a:avLst/>
          </a:prstGeom>
          <a:solidFill>
            <a:schemeClr val="accent3"/>
          </a:solidFill>
          <a:ln/>
        </p:spPr>
      </p:sp>
      <p:pic>
        <p:nvPicPr>
          <p:cNvPr id="11" name="Pair Rewards icon" descr="Pair Rewards">    </p:cNvPr>
          <p:cNvPicPr>
            <a:picLocks noChangeAspect="1"/>
          </p:cNvPicPr>
          <p:nvPr/>
        </p:nvPicPr>
        <p:blipFill>
          <a:blip r:embed="rId2"/>
          <a:stretch>
            <a:fillRect/>
          </a:stretch>
        </p:blipFill>
        <p:spPr>
          <a:xfrm>
            <a:off x="3274101" y="2152498"/>
            <a:ext cx="404165" cy="404165"/>
          </a:xfrm>
          <a:prstGeom prst="rect">
            <a:avLst/>
          </a:prstGeom>
        </p:spPr>
      </p:pic>
      <p:sp>
        <p:nvSpPr>
          <p:cNvPr id="12" name="Text 8"/>
          <p:cNvSpPr txBox="1"/>
          <p:nvPr/>
        </p:nvSpPr>
        <p:spPr>
          <a:xfrm>
            <a:off x="3087563" y="2880360"/>
            <a:ext cx="1578803" cy="365760"/>
          </a:xfrm>
          <a:prstGeom prst="rect">
            <a:avLst/>
          </a:prstGeom>
          <a:noFill/>
          <a:ln/>
        </p:spPr>
        <p:txBody>
          <a:bodyPr wrap="square" lIns="0" tIns="0" rIns="0" bIns="0" rtlCol="0" anchor="t"/>
          <a:lstStyle/>
          <a:p>
            <a:pPr indent="0" marL="0">
              <a:buNone/>
            </a:pPr>
            <a:r>
              <a:rPr lang="en-US" sz="1600" b="1" dirty="0">
                <a:solidFill>
                  <a:schemeClr val="tx1"/>
                </a:solidFill>
              </a:rPr>
              <a:t>Pair Rewards</a:t>
            </a:r>
            <a:endParaRPr lang="en-US" sz="1600" dirty="0"/>
          </a:p>
        </p:txBody>
      </p:sp>
      <p:sp>
        <p:nvSpPr>
          <p:cNvPr id="13" name="Text 9"/>
          <p:cNvSpPr txBox="1"/>
          <p:nvPr/>
        </p:nvSpPr>
        <p:spPr>
          <a:xfrm>
            <a:off x="3087563" y="3273552"/>
            <a:ext cx="1578803" cy="868680"/>
          </a:xfrm>
          <a:prstGeom prst="rect">
            <a:avLst/>
          </a:prstGeom>
          <a:noFill/>
          <a:ln/>
        </p:spPr>
        <p:txBody>
          <a:bodyPr wrap="square" lIns="0" tIns="0" rIns="0" bIns="0" rtlCol="0" anchor="t"/>
          <a:lstStyle/>
          <a:p>
            <a:pPr indent="0" marL="0">
              <a:buNone/>
            </a:pPr>
            <a:r>
              <a:rPr lang="en-US" sz="1250" dirty="0">
                <a:solidFill>
                  <a:schemeClr val="tx2"/>
                </a:solidFill>
              </a:rPr>
              <a:t>Milestone rewards as your Left and Right teams grow.</a:t>
            </a:r>
            <a:endParaRPr lang="en-US" sz="1250" dirty="0"/>
          </a:p>
        </p:txBody>
      </p:sp>
      <p:sp>
        <p:nvSpPr>
          <p:cNvPr id="14" name="Monthly Draw card"/>
          <p:cNvSpPr/>
          <p:nvPr/>
        </p:nvSpPr>
        <p:spPr>
          <a:xfrm>
            <a:off x="5077846" y="1691640"/>
            <a:ext cx="2036003" cy="2514600"/>
          </a:xfrm>
          <a:prstGeom prst="roundRect">
            <a:avLst>
              <a:gd name="adj" fmla="val 53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5" name="Monthly Draw icon circle"/>
          <p:cNvSpPr/>
          <p:nvPr/>
        </p:nvSpPr>
        <p:spPr>
          <a:xfrm>
            <a:off x="5352166" y="1965960"/>
            <a:ext cx="777240" cy="777240"/>
          </a:xfrm>
          <a:prstGeom prst="ellipse">
            <a:avLst/>
          </a:prstGeom>
          <a:solidFill>
            <a:schemeClr val="accent2"/>
          </a:solidFill>
          <a:ln/>
        </p:spPr>
      </p:sp>
      <p:pic>
        <p:nvPicPr>
          <p:cNvPr id="16" name="Monthly Draw icon" descr="Monthly Draw">    </p:cNvPr>
          <p:cNvPicPr>
            <a:picLocks noChangeAspect="1"/>
          </p:cNvPicPr>
          <p:nvPr/>
        </p:nvPicPr>
        <p:blipFill>
          <a:blip r:embed="rId3"/>
          <a:stretch>
            <a:fillRect/>
          </a:stretch>
        </p:blipFill>
        <p:spPr>
          <a:xfrm>
            <a:off x="5538704" y="2152498"/>
            <a:ext cx="404165" cy="404165"/>
          </a:xfrm>
          <a:prstGeom prst="rect">
            <a:avLst/>
          </a:prstGeom>
        </p:spPr>
      </p:pic>
      <p:sp>
        <p:nvSpPr>
          <p:cNvPr id="17" name="Text 12"/>
          <p:cNvSpPr txBox="1"/>
          <p:nvPr/>
        </p:nvSpPr>
        <p:spPr>
          <a:xfrm>
            <a:off x="5352166" y="2880360"/>
            <a:ext cx="1578803" cy="365760"/>
          </a:xfrm>
          <a:prstGeom prst="rect">
            <a:avLst/>
          </a:prstGeom>
          <a:noFill/>
          <a:ln/>
        </p:spPr>
        <p:txBody>
          <a:bodyPr wrap="square" lIns="0" tIns="0" rIns="0" bIns="0" rtlCol="0" anchor="t"/>
          <a:lstStyle/>
          <a:p>
            <a:pPr indent="0" marL="0">
              <a:buNone/>
            </a:pPr>
            <a:r>
              <a:rPr lang="en-US" sz="1600" b="1" dirty="0">
                <a:solidFill>
                  <a:schemeClr val="tx1"/>
                </a:solidFill>
              </a:rPr>
              <a:t>Monthly Draw</a:t>
            </a:r>
            <a:endParaRPr lang="en-US" sz="1600" dirty="0"/>
          </a:p>
        </p:txBody>
      </p:sp>
      <p:sp>
        <p:nvSpPr>
          <p:cNvPr id="18" name="Text 13"/>
          <p:cNvSpPr txBox="1"/>
          <p:nvPr/>
        </p:nvSpPr>
        <p:spPr>
          <a:xfrm>
            <a:off x="5352166" y="3273552"/>
            <a:ext cx="1578803" cy="868680"/>
          </a:xfrm>
          <a:prstGeom prst="rect">
            <a:avLst/>
          </a:prstGeom>
          <a:noFill/>
          <a:ln/>
        </p:spPr>
        <p:txBody>
          <a:bodyPr wrap="square" lIns="0" tIns="0" rIns="0" bIns="0" rtlCol="0" anchor="t"/>
          <a:lstStyle/>
          <a:p>
            <a:pPr indent="0" marL="0">
              <a:buNone/>
            </a:pPr>
            <a:r>
              <a:rPr lang="en-US" sz="1250" dirty="0">
                <a:solidFill>
                  <a:schemeClr val="tx2"/>
                </a:solidFill>
              </a:rPr>
              <a:t>A jewellery prize draw in your group, every month.</a:t>
            </a:r>
            <a:endParaRPr lang="en-US" sz="1250" dirty="0"/>
          </a:p>
        </p:txBody>
      </p:sp>
      <p:sp>
        <p:nvSpPr>
          <p:cNvPr id="19" name="Income Booster card"/>
          <p:cNvSpPr/>
          <p:nvPr/>
        </p:nvSpPr>
        <p:spPr>
          <a:xfrm>
            <a:off x="7342449" y="1691640"/>
            <a:ext cx="2036003" cy="2514600"/>
          </a:xfrm>
          <a:prstGeom prst="roundRect">
            <a:avLst>
              <a:gd name="adj" fmla="val 53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0" name="Income Booster icon circle"/>
          <p:cNvSpPr/>
          <p:nvPr/>
        </p:nvSpPr>
        <p:spPr>
          <a:xfrm>
            <a:off x="7616769" y="1965960"/>
            <a:ext cx="777240" cy="777240"/>
          </a:xfrm>
          <a:prstGeom prst="ellipse">
            <a:avLst/>
          </a:prstGeom>
          <a:solidFill>
            <a:schemeClr val="accent4"/>
          </a:solidFill>
          <a:ln/>
        </p:spPr>
      </p:sp>
      <p:pic>
        <p:nvPicPr>
          <p:cNvPr id="21" name="Income Booster icon" descr="Income Booster">    </p:cNvPr>
          <p:cNvPicPr>
            <a:picLocks noChangeAspect="1"/>
          </p:cNvPicPr>
          <p:nvPr/>
        </p:nvPicPr>
        <p:blipFill>
          <a:blip r:embed="rId4"/>
          <a:stretch>
            <a:fillRect/>
          </a:stretch>
        </p:blipFill>
        <p:spPr>
          <a:xfrm>
            <a:off x="7803307" y="2152498"/>
            <a:ext cx="404165" cy="404165"/>
          </a:xfrm>
          <a:prstGeom prst="rect">
            <a:avLst/>
          </a:prstGeom>
        </p:spPr>
      </p:pic>
      <p:sp>
        <p:nvSpPr>
          <p:cNvPr id="22" name="Text 16"/>
          <p:cNvSpPr txBox="1"/>
          <p:nvPr/>
        </p:nvSpPr>
        <p:spPr>
          <a:xfrm>
            <a:off x="7616769" y="2880360"/>
            <a:ext cx="1578803" cy="365760"/>
          </a:xfrm>
          <a:prstGeom prst="rect">
            <a:avLst/>
          </a:prstGeom>
          <a:noFill/>
          <a:ln/>
        </p:spPr>
        <p:txBody>
          <a:bodyPr wrap="square" lIns="0" tIns="0" rIns="0" bIns="0" rtlCol="0" anchor="t"/>
          <a:lstStyle/>
          <a:p>
            <a:pPr indent="0" marL="0">
              <a:buNone/>
            </a:pPr>
            <a:r>
              <a:rPr lang="en-US" sz="1600" b="1" dirty="0">
                <a:solidFill>
                  <a:schemeClr val="tx1"/>
                </a:solidFill>
              </a:rPr>
              <a:t>Income Booster</a:t>
            </a:r>
            <a:endParaRPr lang="en-US" sz="1600" dirty="0"/>
          </a:p>
        </p:txBody>
      </p:sp>
      <p:sp>
        <p:nvSpPr>
          <p:cNvPr id="23" name="Text 17"/>
          <p:cNvSpPr txBox="1"/>
          <p:nvPr/>
        </p:nvSpPr>
        <p:spPr>
          <a:xfrm>
            <a:off x="7616769" y="3273552"/>
            <a:ext cx="1578803" cy="868680"/>
          </a:xfrm>
          <a:prstGeom prst="rect">
            <a:avLst/>
          </a:prstGeom>
          <a:noFill/>
          <a:ln/>
        </p:spPr>
        <p:txBody>
          <a:bodyPr wrap="square" lIns="0" tIns="0" rIns="0" bIns="0" rtlCol="0" anchor="t"/>
          <a:lstStyle/>
          <a:p>
            <a:pPr indent="0" marL="0">
              <a:buNone/>
            </a:pPr>
            <a:r>
              <a:rPr lang="en-US" sz="1250" dirty="0">
                <a:solidFill>
                  <a:schemeClr val="tx2"/>
                </a:solidFill>
              </a:rPr>
              <a:t>A fixed monthly benefit for building a big team.</a:t>
            </a:r>
            <a:endParaRPr lang="en-US" sz="1250" dirty="0"/>
          </a:p>
        </p:txBody>
      </p:sp>
      <p:sp>
        <p:nvSpPr>
          <p:cNvPr id="24" name="Store Income card"/>
          <p:cNvSpPr/>
          <p:nvPr/>
        </p:nvSpPr>
        <p:spPr>
          <a:xfrm>
            <a:off x="9607052" y="1691640"/>
            <a:ext cx="2036003" cy="2514600"/>
          </a:xfrm>
          <a:prstGeom prst="roundRect">
            <a:avLst>
              <a:gd name="adj" fmla="val 53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5" name="Store Income icon circle"/>
          <p:cNvSpPr/>
          <p:nvPr/>
        </p:nvSpPr>
        <p:spPr>
          <a:xfrm>
            <a:off x="9881372" y="1965960"/>
            <a:ext cx="777240" cy="777240"/>
          </a:xfrm>
          <a:prstGeom prst="ellipse">
            <a:avLst/>
          </a:prstGeom>
          <a:solidFill>
            <a:schemeClr val="accent5"/>
          </a:solidFill>
          <a:ln/>
        </p:spPr>
      </p:sp>
      <p:pic>
        <p:nvPicPr>
          <p:cNvPr id="26" name="Store Income icon" descr="Store Income">    </p:cNvPr>
          <p:cNvPicPr>
            <a:picLocks noChangeAspect="1"/>
          </p:cNvPicPr>
          <p:nvPr/>
        </p:nvPicPr>
        <p:blipFill>
          <a:blip r:embed="rId5"/>
          <a:stretch>
            <a:fillRect/>
          </a:stretch>
        </p:blipFill>
        <p:spPr>
          <a:xfrm>
            <a:off x="10067910" y="2152498"/>
            <a:ext cx="404165" cy="404165"/>
          </a:xfrm>
          <a:prstGeom prst="rect">
            <a:avLst/>
          </a:prstGeom>
        </p:spPr>
      </p:pic>
      <p:sp>
        <p:nvSpPr>
          <p:cNvPr id="27" name="Text 20"/>
          <p:cNvSpPr txBox="1"/>
          <p:nvPr/>
        </p:nvSpPr>
        <p:spPr>
          <a:xfrm>
            <a:off x="9881372" y="2880360"/>
            <a:ext cx="1578803" cy="365760"/>
          </a:xfrm>
          <a:prstGeom prst="rect">
            <a:avLst/>
          </a:prstGeom>
          <a:noFill/>
          <a:ln/>
        </p:spPr>
        <p:txBody>
          <a:bodyPr wrap="square" lIns="0" tIns="0" rIns="0" bIns="0" rtlCol="0" anchor="t"/>
          <a:lstStyle/>
          <a:p>
            <a:pPr indent="0" marL="0">
              <a:buNone/>
            </a:pPr>
            <a:r>
              <a:rPr lang="en-US" sz="1600" b="1" dirty="0">
                <a:solidFill>
                  <a:schemeClr val="tx1"/>
                </a:solidFill>
              </a:rPr>
              <a:t>Store Income</a:t>
            </a:r>
            <a:endParaRPr lang="en-US" sz="1600" dirty="0"/>
          </a:p>
        </p:txBody>
      </p:sp>
      <p:sp>
        <p:nvSpPr>
          <p:cNvPr id="28" name="Text 21"/>
          <p:cNvSpPr txBox="1"/>
          <p:nvPr/>
        </p:nvSpPr>
        <p:spPr>
          <a:xfrm>
            <a:off x="9881372" y="3273552"/>
            <a:ext cx="1578803" cy="868680"/>
          </a:xfrm>
          <a:prstGeom prst="rect">
            <a:avLst/>
          </a:prstGeom>
          <a:noFill/>
          <a:ln/>
        </p:spPr>
        <p:txBody>
          <a:bodyPr wrap="square" lIns="0" tIns="0" rIns="0" bIns="0" rtlCol="0" anchor="t"/>
          <a:lstStyle/>
          <a:p>
            <a:pPr indent="0" marL="0">
              <a:buNone/>
            </a:pPr>
            <a:r>
              <a:rPr lang="en-US" sz="1250" dirty="0">
                <a:solidFill>
                  <a:schemeClr val="tx2"/>
                </a:solidFill>
              </a:rPr>
              <a:t>A % when you or your team buy jewellery at our stores.</a:t>
            </a:r>
            <a:endParaRPr lang="en-US" sz="1250" dirty="0"/>
          </a:p>
        </p:txBody>
      </p:sp>
      <p:sp>
        <p:nvSpPr>
          <p:cNvPr id="29" name="Qualified direct band"/>
          <p:cNvSpPr/>
          <p:nvPr/>
        </p:nvSpPr>
        <p:spPr>
          <a:xfrm>
            <a:off x="548640" y="4434840"/>
            <a:ext cx="11094415" cy="1463040"/>
          </a:xfrm>
          <a:prstGeom prst="roundRect">
            <a:avLst>
              <a:gd name="adj" fmla="val 7500"/>
            </a:avLst>
          </a:prstGeom>
          <a:solidFill>
            <a:schemeClr val="bg2"/>
          </a:solidFill>
          <a:ln/>
        </p:spPr>
      </p:sp>
      <p:sp>
        <p:nvSpPr>
          <p:cNvPr id="30" name="Qualified direct icon circle"/>
          <p:cNvSpPr/>
          <p:nvPr/>
        </p:nvSpPr>
        <p:spPr>
          <a:xfrm>
            <a:off x="822960" y="4663440"/>
            <a:ext cx="685800" cy="685800"/>
          </a:xfrm>
          <a:prstGeom prst="ellipse">
            <a:avLst/>
          </a:prstGeom>
          <a:solidFill>
            <a:schemeClr val="accent1"/>
          </a:solidFill>
          <a:ln/>
        </p:spPr>
      </p:sp>
      <p:pic>
        <p:nvPicPr>
          <p:cNvPr id="31" name="Qualified direct icon" descr="Qualified direct">    </p:cNvPr>
          <p:cNvPicPr>
            <a:picLocks noChangeAspect="1"/>
          </p:cNvPicPr>
          <p:nvPr/>
        </p:nvPicPr>
        <p:blipFill>
          <a:blip r:embed="rId6"/>
          <a:stretch>
            <a:fillRect/>
          </a:stretch>
        </p:blipFill>
        <p:spPr>
          <a:xfrm>
            <a:off x="987552" y="4828032"/>
            <a:ext cx="356616" cy="356616"/>
          </a:xfrm>
          <a:prstGeom prst="rect">
            <a:avLst/>
          </a:prstGeom>
        </p:spPr>
      </p:pic>
      <p:sp>
        <p:nvSpPr>
          <p:cNvPr id="32" name="Text 24"/>
          <p:cNvSpPr txBox="1"/>
          <p:nvPr/>
        </p:nvSpPr>
        <p:spPr>
          <a:xfrm>
            <a:off x="1737360" y="4617720"/>
            <a:ext cx="9631375" cy="411480"/>
          </a:xfrm>
          <a:prstGeom prst="rect">
            <a:avLst/>
          </a:prstGeom>
          <a:noFill/>
          <a:ln/>
        </p:spPr>
        <p:txBody>
          <a:bodyPr wrap="square" lIns="0" tIns="0" rIns="0" bIns="0" rtlCol="0" anchor="t"/>
          <a:lstStyle/>
          <a:p>
            <a:pPr indent="0" marL="0">
              <a:buNone/>
            </a:pPr>
            <a:r>
              <a:rPr lang="en-US" sz="1800" b="1" dirty="0">
                <a:solidFill>
                  <a:schemeClr val="tx1"/>
                </a:solidFill>
              </a:rPr>
              <a:t>What is a “qualified direct”?</a:t>
            </a:r>
            <a:endParaRPr lang="en-US" sz="1800" dirty="0"/>
          </a:p>
        </p:txBody>
      </p:sp>
      <p:sp>
        <p:nvSpPr>
          <p:cNvPr id="33" name="Text 25"/>
          <p:cNvSpPr txBox="1"/>
          <p:nvPr/>
        </p:nvSpPr>
        <p:spPr>
          <a:xfrm>
            <a:off x="1737360" y="5029200"/>
            <a:ext cx="9631375" cy="1005840"/>
          </a:xfrm>
          <a:prstGeom prst="rect">
            <a:avLst/>
          </a:prstGeom>
          <a:noFill/>
          <a:ln/>
        </p:spPr>
        <p:txBody>
          <a:bodyPr wrap="square" lIns="0" tIns="0" rIns="0" bIns="0" rtlCol="0" anchor="t"/>
          <a:lstStyle/>
          <a:p>
            <a:pPr indent="0" marL="0">
              <a:buNone/>
            </a:pPr>
            <a:r>
              <a:rPr lang="en-US" sz="1400" dirty="0">
                <a:solidFill>
                  <a:schemeClr val="tx2"/>
                </a:solidFill>
              </a:rPr>
              <a:t>A member you introduced yourself, who is active and has paid enough: Direct plans — registration paid; Silver Start — 6 EMIs; Silver Prime — 2 EMIs; Gold Rise — 2 EMIs; Gold Elite — 1 EMI. Most rewards need a certain number of qualified directs.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Level Income</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Earn a share of every plan payment — joining or EMI — made by members up to 12 levels below you in your sponsor chain.</a:t>
            </a:r>
            <a:endParaRPr lang="en-US" sz="1600" dirty="0"/>
          </a:p>
        </p:txBody>
      </p:sp>
      <p:sp>
        <p:nvSpPr>
          <p:cNvPr id="4" name="How it works icon circle"/>
          <p:cNvSpPr/>
          <p:nvPr/>
        </p:nvSpPr>
        <p:spPr>
          <a:xfrm>
            <a:off x="548640" y="1737360"/>
            <a:ext cx="640080" cy="640080"/>
          </a:xfrm>
          <a:prstGeom prst="ellipse">
            <a:avLst/>
          </a:prstGeom>
          <a:solidFill>
            <a:schemeClr val="accent6"/>
          </a:solidFill>
          <a:ln/>
        </p:spPr>
      </p:sp>
      <p:pic>
        <p:nvPicPr>
          <p:cNvPr id="5" name="How it works icon" descr="How it works">    </p:cNvPr>
          <p:cNvPicPr>
            <a:picLocks noChangeAspect="1"/>
          </p:cNvPicPr>
          <p:nvPr/>
        </p:nvPicPr>
        <p:blipFill>
          <a:blip r:embed="rId1"/>
          <a:stretch>
            <a:fillRect/>
          </a:stretch>
        </p:blipFill>
        <p:spPr>
          <a:xfrm>
            <a:off x="702259" y="1890979"/>
            <a:ext cx="332842" cy="332842"/>
          </a:xfrm>
          <a:prstGeom prst="rect">
            <a:avLst/>
          </a:prstGeom>
        </p:spPr>
      </p:pic>
      <p:sp>
        <p:nvSpPr>
          <p:cNvPr id="6" name="Text 3"/>
          <p:cNvSpPr txBox="1"/>
          <p:nvPr/>
        </p:nvSpPr>
        <p:spPr>
          <a:xfrm>
            <a:off x="1417320" y="1719072"/>
            <a:ext cx="4251960" cy="320040"/>
          </a:xfrm>
          <a:prstGeom prst="rect">
            <a:avLst/>
          </a:prstGeom>
          <a:noFill/>
          <a:ln/>
        </p:spPr>
        <p:txBody>
          <a:bodyPr wrap="square" lIns="0" tIns="0" rIns="0" bIns="0" rtlCol="0" anchor="t"/>
          <a:lstStyle/>
          <a:p>
            <a:pPr indent="0" marL="0">
              <a:buNone/>
            </a:pPr>
            <a:r>
              <a:rPr lang="en-US" sz="1600" b="1" dirty="0">
                <a:solidFill>
                  <a:schemeClr val="tx1"/>
                </a:solidFill>
              </a:rPr>
              <a:t>How it works</a:t>
            </a:r>
            <a:endParaRPr lang="en-US" sz="1600" dirty="0"/>
          </a:p>
        </p:txBody>
      </p:sp>
      <p:sp>
        <p:nvSpPr>
          <p:cNvPr id="7" name="Text 4"/>
          <p:cNvSpPr txBox="1"/>
          <p:nvPr/>
        </p:nvSpPr>
        <p:spPr>
          <a:xfrm>
            <a:off x="1417320" y="2057400"/>
            <a:ext cx="4251960" cy="731520"/>
          </a:xfrm>
          <a:prstGeom prst="rect">
            <a:avLst/>
          </a:prstGeom>
          <a:noFill/>
          <a:ln/>
        </p:spPr>
        <p:txBody>
          <a:bodyPr wrap="square" lIns="0" tIns="0" rIns="0" bIns="0" rtlCol="0" anchor="t"/>
          <a:lstStyle/>
          <a:p>
            <a:pPr indent="0" marL="0">
              <a:buNone/>
            </a:pPr>
            <a:r>
              <a:rPr lang="en-US" sz="1300" dirty="0">
                <a:solidFill>
                  <a:schemeClr val="tx2"/>
                </a:solidFill>
              </a:rPr>
              <a:t>Level 1 is the member you sponsored, Level 2 is the member they sponsored, and so on up to Level 12.</a:t>
            </a:r>
            <a:endParaRPr lang="en-US" sz="1300" dirty="0"/>
          </a:p>
        </p:txBody>
      </p:sp>
      <p:sp>
        <p:nvSpPr>
          <p:cNvPr id="8" name="Directs unlock levels icon circle"/>
          <p:cNvSpPr/>
          <p:nvPr/>
        </p:nvSpPr>
        <p:spPr>
          <a:xfrm>
            <a:off x="548640" y="2880360"/>
            <a:ext cx="640080" cy="640080"/>
          </a:xfrm>
          <a:prstGeom prst="ellipse">
            <a:avLst/>
          </a:prstGeom>
          <a:solidFill>
            <a:schemeClr val="accent1"/>
          </a:solidFill>
          <a:ln/>
        </p:spPr>
      </p:sp>
      <p:pic>
        <p:nvPicPr>
          <p:cNvPr id="9" name="Directs unlock levels icon" descr="Directs unlock levels">    </p:cNvPr>
          <p:cNvPicPr>
            <a:picLocks noChangeAspect="1"/>
          </p:cNvPicPr>
          <p:nvPr/>
        </p:nvPicPr>
        <p:blipFill>
          <a:blip r:embed="rId2"/>
          <a:stretch>
            <a:fillRect/>
          </a:stretch>
        </p:blipFill>
        <p:spPr>
          <a:xfrm>
            <a:off x="702259" y="3033979"/>
            <a:ext cx="332842" cy="332842"/>
          </a:xfrm>
          <a:prstGeom prst="rect">
            <a:avLst/>
          </a:prstGeom>
        </p:spPr>
      </p:pic>
      <p:sp>
        <p:nvSpPr>
          <p:cNvPr id="10" name="Text 6"/>
          <p:cNvSpPr txBox="1"/>
          <p:nvPr/>
        </p:nvSpPr>
        <p:spPr>
          <a:xfrm>
            <a:off x="1417320" y="2862072"/>
            <a:ext cx="4251960" cy="320040"/>
          </a:xfrm>
          <a:prstGeom prst="rect">
            <a:avLst/>
          </a:prstGeom>
          <a:noFill/>
          <a:ln/>
        </p:spPr>
        <p:txBody>
          <a:bodyPr wrap="square" lIns="0" tIns="0" rIns="0" bIns="0" rtlCol="0" anchor="t"/>
          <a:lstStyle/>
          <a:p>
            <a:pPr indent="0" marL="0">
              <a:buNone/>
            </a:pPr>
            <a:r>
              <a:rPr lang="en-US" sz="1600" b="1" dirty="0">
                <a:solidFill>
                  <a:schemeClr val="tx1"/>
                </a:solidFill>
              </a:rPr>
              <a:t>Directs unlock levels</a:t>
            </a:r>
            <a:endParaRPr lang="en-US" sz="1600" dirty="0"/>
          </a:p>
        </p:txBody>
      </p:sp>
      <p:sp>
        <p:nvSpPr>
          <p:cNvPr id="11" name="Text 7"/>
          <p:cNvSpPr txBox="1"/>
          <p:nvPr/>
        </p:nvSpPr>
        <p:spPr>
          <a:xfrm>
            <a:off x="1417320" y="3200400"/>
            <a:ext cx="4251960" cy="731520"/>
          </a:xfrm>
          <a:prstGeom prst="rect">
            <a:avLst/>
          </a:prstGeom>
          <a:noFill/>
          <a:ln/>
        </p:spPr>
        <p:txBody>
          <a:bodyPr wrap="square" lIns="0" tIns="0" rIns="0" bIns="0" rtlCol="0" anchor="t"/>
          <a:lstStyle/>
          <a:p>
            <a:pPr indent="0" marL="0">
              <a:buNone/>
            </a:pPr>
            <a:r>
              <a:rPr lang="en-US" sz="1300" dirty="0">
                <a:solidFill>
                  <a:schemeClr val="tx2"/>
                </a:solidFill>
              </a:rPr>
              <a:t>Each level needs a number of qualified directs: 2 for Level 1, 4 for Level 2 … 24 for Level 12.</a:t>
            </a:r>
            <a:endParaRPr lang="en-US" sz="1300" dirty="0"/>
          </a:p>
        </p:txBody>
      </p:sp>
      <p:sp>
        <p:nvSpPr>
          <p:cNvPr id="12" name="Held, never lost icon circle"/>
          <p:cNvSpPr/>
          <p:nvPr/>
        </p:nvSpPr>
        <p:spPr>
          <a:xfrm>
            <a:off x="548640" y="4023360"/>
            <a:ext cx="640080" cy="640080"/>
          </a:xfrm>
          <a:prstGeom prst="ellipse">
            <a:avLst/>
          </a:prstGeom>
          <a:solidFill>
            <a:schemeClr val="accent2"/>
          </a:solidFill>
          <a:ln/>
        </p:spPr>
      </p:sp>
      <p:pic>
        <p:nvPicPr>
          <p:cNvPr id="13" name="Held, never lost icon" descr="Held, never lost">    </p:cNvPr>
          <p:cNvPicPr>
            <a:picLocks noChangeAspect="1"/>
          </p:cNvPicPr>
          <p:nvPr/>
        </p:nvPicPr>
        <p:blipFill>
          <a:blip r:embed="rId3"/>
          <a:stretch>
            <a:fillRect/>
          </a:stretch>
        </p:blipFill>
        <p:spPr>
          <a:xfrm>
            <a:off x="702259" y="4176979"/>
            <a:ext cx="332842" cy="332842"/>
          </a:xfrm>
          <a:prstGeom prst="rect">
            <a:avLst/>
          </a:prstGeom>
        </p:spPr>
      </p:pic>
      <p:sp>
        <p:nvSpPr>
          <p:cNvPr id="14" name="Text 9"/>
          <p:cNvSpPr txBox="1"/>
          <p:nvPr/>
        </p:nvSpPr>
        <p:spPr>
          <a:xfrm>
            <a:off x="1417320" y="4005072"/>
            <a:ext cx="4251960" cy="320040"/>
          </a:xfrm>
          <a:prstGeom prst="rect">
            <a:avLst/>
          </a:prstGeom>
          <a:noFill/>
          <a:ln/>
        </p:spPr>
        <p:txBody>
          <a:bodyPr wrap="square" lIns="0" tIns="0" rIns="0" bIns="0" rtlCol="0" anchor="t"/>
          <a:lstStyle/>
          <a:p>
            <a:pPr indent="0" marL="0">
              <a:buNone/>
            </a:pPr>
            <a:r>
              <a:rPr lang="en-US" sz="1600" b="1" dirty="0">
                <a:solidFill>
                  <a:schemeClr val="tx1"/>
                </a:solidFill>
              </a:rPr>
              <a:t>Held, never lost</a:t>
            </a:r>
            <a:endParaRPr lang="en-US" sz="1600" dirty="0"/>
          </a:p>
        </p:txBody>
      </p:sp>
      <p:sp>
        <p:nvSpPr>
          <p:cNvPr id="15" name="Text 10"/>
          <p:cNvSpPr txBox="1"/>
          <p:nvPr/>
        </p:nvSpPr>
        <p:spPr>
          <a:xfrm>
            <a:off x="1417320" y="4343400"/>
            <a:ext cx="4251960" cy="731520"/>
          </a:xfrm>
          <a:prstGeom prst="rect">
            <a:avLst/>
          </a:prstGeom>
          <a:noFill/>
          <a:ln/>
        </p:spPr>
        <p:txBody>
          <a:bodyPr wrap="square" lIns="0" tIns="0" rIns="0" bIns="0" rtlCol="0" anchor="t"/>
          <a:lstStyle/>
          <a:p>
            <a:pPr indent="0" marL="0">
              <a:buNone/>
            </a:pPr>
            <a:r>
              <a:rPr lang="en-US" sz="1300" dirty="0">
                <a:solidFill>
                  <a:schemeClr val="tx2"/>
                </a:solidFill>
              </a:rPr>
              <a:t>If you don't have enough directs yet, the income is kept for you and paid as soon as you qualify — no time limit.</a:t>
            </a:r>
            <a:endParaRPr lang="en-US" sz="1300" dirty="0"/>
          </a:p>
        </p:txBody>
      </p:sp>
      <p:sp>
        <p:nvSpPr>
          <p:cNvPr id="16" name="Level example band"/>
          <p:cNvSpPr/>
          <p:nvPr/>
        </p:nvSpPr>
        <p:spPr>
          <a:xfrm>
            <a:off x="548640" y="5257800"/>
            <a:ext cx="5120640" cy="868680"/>
          </a:xfrm>
          <a:prstGeom prst="roundRect">
            <a:avLst>
              <a:gd name="adj" fmla="val 12632"/>
            </a:avLst>
          </a:prstGeom>
          <a:solidFill>
            <a:schemeClr val="bg2"/>
          </a:solidFill>
          <a:ln/>
        </p:spPr>
      </p:sp>
      <p:sp>
        <p:nvSpPr>
          <p:cNvPr id="17" name="Text 12"/>
          <p:cNvSpPr txBox="1"/>
          <p:nvPr/>
        </p:nvSpPr>
        <p:spPr>
          <a:xfrm>
            <a:off x="822960" y="5257800"/>
            <a:ext cx="4572000" cy="868680"/>
          </a:xfrm>
          <a:prstGeom prst="rect">
            <a:avLst/>
          </a:prstGeom>
          <a:noFill/>
          <a:ln/>
        </p:spPr>
        <p:txBody>
          <a:bodyPr wrap="square" lIns="0" tIns="0" rIns="0" bIns="0" rtlCol="0" anchor="ctr"/>
          <a:lstStyle/>
          <a:p>
            <a:pPr indent="0" marL="0">
              <a:buNone/>
            </a:pPr>
            <a:r>
              <a:rPr lang="en-US" sz="1350" b="1" dirty="0">
                <a:solidFill>
                  <a:schemeClr val="accent1"/>
                </a:solidFill>
              </a:rPr>
              <a:t>Example: </a:t>
            </a:r>
            <a:pPr indent="0" marL="0">
              <a:buNone/>
            </a:pPr>
            <a:r>
              <a:rPr lang="en-US" sz="1350" dirty="0">
                <a:solidFill>
                  <a:schemeClr val="tx1"/>
                </a:solidFill>
              </a:rPr>
              <a:t>your direct pays a ₹3,000 Silver Prime EMI → you earn 5% = ₹150 (Level 1, Silver), if you have 2 qualified directs.</a:t>
            </a:r>
            <a:endParaRPr lang="en-US" sz="1350" dirty="0"/>
          </a:p>
        </p:txBody>
      </p:sp>
      <p:graphicFrame>
        <p:nvGraphicFramePr>
          <p:cNvPr id="9" name="Level income table"/>
          <p:cNvGraphicFramePr>
            <a:graphicFrameLocks noGrp="1"/>
          </p:cNvGraphicFramePr>
          <p:nvPr>
            <p:extLst>
              <p:ext uri="{D42A27DB-BD31-4B8C-83A1-F6EECF244321}">
                <p14:modId xmlns:p14="http://schemas.microsoft.com/office/powerpoint/2010/main" val="1579011935"/>
              </p:ext>
            </p:extLst>
          </p:nvPr>
        </p:nvGraphicFramePr>
        <p:xfrm>
          <a:off x="6126480" y="1691640"/>
          <a:ext cx="5513832" cy="914400"/>
        </p:xfrm>
        <a:graphic>
          <a:graphicData uri="http://schemas.openxmlformats.org/drawingml/2006/table">
            <a:tbl>
              <a:tblPr/>
              <a:tblGrid>
                <a:gridCol w="1280160"/>
                <a:gridCol w="1371600"/>
                <a:gridCol w="1371600"/>
                <a:gridCol w="1490472"/>
              </a:tblGrid>
              <a:tr h="329184">
                <a:tc>
                  <a:txBody>
                    <a:bodyPr/>
                    <a:lstStyle/>
                    <a:p>
                      <a:pPr algn="ctr" indent="0" marL="0">
                        <a:buNone/>
                      </a:pPr>
                      <a:r>
                        <a:rPr lang="en-US" sz="1250" b="1" dirty="0">
                          <a:solidFill>
                            <a:schemeClr val="bg1"/>
                          </a:solidFill>
                        </a:rPr>
                        <a:t>Level</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ctr" indent="0" marL="0">
                        <a:buNone/>
                      </a:pPr>
                      <a:r>
                        <a:rPr lang="en-US" sz="1250" b="1" dirty="0">
                          <a:solidFill>
                            <a:schemeClr val="bg1"/>
                          </a:solidFill>
                        </a:rPr>
                        <a:t>Silver plans</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ctr" indent="0" marL="0">
                        <a:buNone/>
                      </a:pPr>
                      <a:r>
                        <a:rPr lang="en-US" sz="1250" b="1" dirty="0">
                          <a:solidFill>
                            <a:schemeClr val="bg1"/>
                          </a:solidFill>
                        </a:rPr>
                        <a:t>Gold plans</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ctr" indent="0" marL="0">
                        <a:buNone/>
                      </a:pPr>
                      <a:r>
                        <a:rPr lang="en-US" sz="1250" b="1" dirty="0">
                          <a:solidFill>
                            <a:schemeClr val="bg1"/>
                          </a:solidFill>
                        </a:rPr>
                        <a:t>Directs needed</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r>
              <a:tr h="329184">
                <a:tc>
                  <a:txBody>
                    <a:bodyPr/>
                    <a:lstStyle/>
                    <a:p>
                      <a:pPr algn="l" indent="0" marL="0">
                        <a:buNone/>
                      </a:pPr>
                      <a:r>
                        <a:rPr lang="en-US" sz="1250" dirty="0">
                          <a:solidFill>
                            <a:schemeClr val="tx1"/>
                          </a:solidFill>
                        </a:rPr>
                        <a:t>Level 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2%</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2</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329184">
                <a:tc>
                  <a:txBody>
                    <a:bodyPr/>
                    <a:lstStyle/>
                    <a:p>
                      <a:pPr algn="l" indent="0" marL="0">
                        <a:buNone/>
                      </a:pPr>
                      <a:r>
                        <a:rPr lang="en-US" sz="1250" dirty="0">
                          <a:solidFill>
                            <a:schemeClr val="tx1"/>
                          </a:solidFill>
                        </a:rPr>
                        <a:t>Level 2</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2%</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4</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329184">
                <a:tc>
                  <a:txBody>
                    <a:bodyPr/>
                    <a:lstStyle/>
                    <a:p>
                      <a:pPr algn="l" indent="0" marL="0">
                        <a:buNone/>
                      </a:pPr>
                      <a:r>
                        <a:rPr lang="en-US" sz="1250" dirty="0">
                          <a:solidFill>
                            <a:schemeClr val="tx1"/>
                          </a:solidFill>
                        </a:rPr>
                        <a:t>Level 3</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6</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329184">
                <a:tc>
                  <a:txBody>
                    <a:bodyPr/>
                    <a:lstStyle/>
                    <a:p>
                      <a:pPr algn="l" indent="0" marL="0">
                        <a:buNone/>
                      </a:pPr>
                      <a:r>
                        <a:rPr lang="en-US" sz="1250" dirty="0">
                          <a:solidFill>
                            <a:schemeClr val="tx1"/>
                          </a:solidFill>
                        </a:rPr>
                        <a:t>Level 4</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8</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329184">
                <a:tc>
                  <a:txBody>
                    <a:bodyPr/>
                    <a:lstStyle/>
                    <a:p>
                      <a:pPr algn="l" indent="0" marL="0">
                        <a:buNone/>
                      </a:pPr>
                      <a:r>
                        <a:rPr lang="en-US" sz="1250" dirty="0">
                          <a:solidFill>
                            <a:schemeClr val="tx1"/>
                          </a:solidFill>
                        </a:rPr>
                        <a:t>Level 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10</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329184">
                <a:tc>
                  <a:txBody>
                    <a:bodyPr/>
                    <a:lstStyle/>
                    <a:p>
                      <a:pPr algn="l" indent="0" marL="0">
                        <a:buNone/>
                      </a:pPr>
                      <a:r>
                        <a:rPr lang="en-US" sz="1250" dirty="0">
                          <a:solidFill>
                            <a:schemeClr val="tx1"/>
                          </a:solidFill>
                        </a:rPr>
                        <a:t>Level 6</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12</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329184">
                <a:tc>
                  <a:txBody>
                    <a:bodyPr/>
                    <a:lstStyle/>
                    <a:p>
                      <a:pPr algn="l" indent="0" marL="0">
                        <a:buNone/>
                      </a:pPr>
                      <a:r>
                        <a:rPr lang="en-US" sz="1250" dirty="0">
                          <a:solidFill>
                            <a:schemeClr val="tx1"/>
                          </a:solidFill>
                        </a:rPr>
                        <a:t>Level 7</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14</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329184">
                <a:tc>
                  <a:txBody>
                    <a:bodyPr/>
                    <a:lstStyle/>
                    <a:p>
                      <a:pPr algn="l" indent="0" marL="0">
                        <a:buNone/>
                      </a:pPr>
                      <a:r>
                        <a:rPr lang="en-US" sz="1250" dirty="0">
                          <a:solidFill>
                            <a:schemeClr val="tx1"/>
                          </a:solidFill>
                        </a:rPr>
                        <a:t>Level 8</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16</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329184">
                <a:tc>
                  <a:txBody>
                    <a:bodyPr/>
                    <a:lstStyle/>
                    <a:p>
                      <a:pPr algn="l" indent="0" marL="0">
                        <a:buNone/>
                      </a:pPr>
                      <a:r>
                        <a:rPr lang="en-US" sz="1250" dirty="0">
                          <a:solidFill>
                            <a:schemeClr val="tx1"/>
                          </a:solidFill>
                        </a:rPr>
                        <a:t>Level 9</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18</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329184">
                <a:tc>
                  <a:txBody>
                    <a:bodyPr/>
                    <a:lstStyle/>
                    <a:p>
                      <a:pPr algn="l" indent="0" marL="0">
                        <a:buNone/>
                      </a:pPr>
                      <a:r>
                        <a:rPr lang="en-US" sz="1250" dirty="0">
                          <a:solidFill>
                            <a:schemeClr val="tx1"/>
                          </a:solidFill>
                        </a:rPr>
                        <a:t>Level 10</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20</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329184">
                <a:tc>
                  <a:txBody>
                    <a:bodyPr/>
                    <a:lstStyle/>
                    <a:p>
                      <a:pPr algn="l" indent="0" marL="0">
                        <a:buNone/>
                      </a:pPr>
                      <a:r>
                        <a:rPr lang="en-US" sz="1250" dirty="0">
                          <a:solidFill>
                            <a:schemeClr val="tx1"/>
                          </a:solidFill>
                        </a:rPr>
                        <a:t>Level 11</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22</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329184">
                <a:tc>
                  <a:txBody>
                    <a:bodyPr/>
                    <a:lstStyle/>
                    <a:p>
                      <a:pPr algn="l" indent="0" marL="0">
                        <a:buNone/>
                      </a:pPr>
                      <a:r>
                        <a:rPr lang="en-US" sz="1250" dirty="0">
                          <a:solidFill>
                            <a:schemeClr val="tx1"/>
                          </a:solidFill>
                        </a:rPr>
                        <a:t>Level 12</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0.5%</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24</a:t>
                      </a:r>
                      <a:endParaRPr lang="en-US" sz="1250" dirty="0"/>
                    </a:p>
                  </a:txBody>
                  <a:tcPr marL="109728" marR="109728"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Pair Rewards</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Milestone rewards as your Left and Right teams grow. Reward = entries used × ₹50.</a:t>
            </a:r>
            <a:endParaRPr lang="en-US" sz="1600" dirty="0"/>
          </a:p>
        </p:txBody>
      </p:sp>
      <p:sp>
        <p:nvSpPr>
          <p:cNvPr id="4" name="Entries icon circle"/>
          <p:cNvSpPr/>
          <p:nvPr/>
        </p:nvSpPr>
        <p:spPr>
          <a:xfrm>
            <a:off x="548640" y="1737360"/>
            <a:ext cx="640080" cy="640080"/>
          </a:xfrm>
          <a:prstGeom prst="ellipse">
            <a:avLst/>
          </a:prstGeom>
          <a:solidFill>
            <a:schemeClr val="accent6"/>
          </a:solidFill>
          <a:ln/>
        </p:spPr>
      </p:sp>
      <p:pic>
        <p:nvPicPr>
          <p:cNvPr id="5" name="Entries icon" descr="Entries">    </p:cNvPr>
          <p:cNvPicPr>
            <a:picLocks noChangeAspect="1"/>
          </p:cNvPicPr>
          <p:nvPr/>
        </p:nvPicPr>
        <p:blipFill>
          <a:blip r:embed="rId1"/>
          <a:stretch>
            <a:fillRect/>
          </a:stretch>
        </p:blipFill>
        <p:spPr>
          <a:xfrm>
            <a:off x="702259" y="1890979"/>
            <a:ext cx="332842" cy="332842"/>
          </a:xfrm>
          <a:prstGeom prst="rect">
            <a:avLst/>
          </a:prstGeom>
        </p:spPr>
      </p:pic>
      <p:sp>
        <p:nvSpPr>
          <p:cNvPr id="6" name="Text 3"/>
          <p:cNvSpPr txBox="1"/>
          <p:nvPr/>
        </p:nvSpPr>
        <p:spPr>
          <a:xfrm>
            <a:off x="1417320" y="1719072"/>
            <a:ext cx="3703320" cy="320040"/>
          </a:xfrm>
          <a:prstGeom prst="rect">
            <a:avLst/>
          </a:prstGeom>
          <a:noFill/>
          <a:ln/>
        </p:spPr>
        <p:txBody>
          <a:bodyPr wrap="square" lIns="0" tIns="0" rIns="0" bIns="0" rtlCol="0" anchor="t"/>
          <a:lstStyle/>
          <a:p>
            <a:pPr indent="0" marL="0">
              <a:buNone/>
            </a:pPr>
            <a:r>
              <a:rPr lang="en-US" sz="1600" b="1" dirty="0">
                <a:solidFill>
                  <a:schemeClr val="tx1"/>
                </a:solidFill>
              </a:rPr>
              <a:t>Entries</a:t>
            </a:r>
            <a:endParaRPr lang="en-US" sz="1600" dirty="0"/>
          </a:p>
        </p:txBody>
      </p:sp>
      <p:sp>
        <p:nvSpPr>
          <p:cNvPr id="7" name="Text 4"/>
          <p:cNvSpPr txBox="1"/>
          <p:nvPr/>
        </p:nvSpPr>
        <p:spPr>
          <a:xfrm>
            <a:off x="1417320" y="2057400"/>
            <a:ext cx="3703320" cy="777240"/>
          </a:xfrm>
          <a:prstGeom prst="rect">
            <a:avLst/>
          </a:prstGeom>
          <a:noFill/>
          <a:ln/>
        </p:spPr>
        <p:txBody>
          <a:bodyPr wrap="square" lIns="0" tIns="0" rIns="0" bIns="0" rtlCol="0" anchor="t"/>
          <a:lstStyle/>
          <a:p>
            <a:pPr indent="0" marL="0">
              <a:buNone/>
            </a:pPr>
            <a:r>
              <a:rPr lang="en-US" sz="1300" dirty="0">
                <a:solidFill>
                  <a:schemeClr val="tx2"/>
                </a:solidFill>
              </a:rPr>
              <a:t>Every qualified joining anywhere in your Left or Right team adds one entry on that side.</a:t>
            </a:r>
            <a:endParaRPr lang="en-US" sz="1300" dirty="0"/>
          </a:p>
        </p:txBody>
      </p:sp>
      <p:sp>
        <p:nvSpPr>
          <p:cNvPr id="8" name="Milestones icon circle"/>
          <p:cNvSpPr/>
          <p:nvPr/>
        </p:nvSpPr>
        <p:spPr>
          <a:xfrm>
            <a:off x="548640" y="2926080"/>
            <a:ext cx="640080" cy="640080"/>
          </a:xfrm>
          <a:prstGeom prst="ellipse">
            <a:avLst/>
          </a:prstGeom>
          <a:solidFill>
            <a:schemeClr val="accent3"/>
          </a:solidFill>
          <a:ln/>
        </p:spPr>
      </p:sp>
      <p:pic>
        <p:nvPicPr>
          <p:cNvPr id="9" name="Milestones icon" descr="Milestones">    </p:cNvPr>
          <p:cNvPicPr>
            <a:picLocks noChangeAspect="1"/>
          </p:cNvPicPr>
          <p:nvPr/>
        </p:nvPicPr>
        <p:blipFill>
          <a:blip r:embed="rId2"/>
          <a:stretch>
            <a:fillRect/>
          </a:stretch>
        </p:blipFill>
        <p:spPr>
          <a:xfrm>
            <a:off x="702259" y="3079699"/>
            <a:ext cx="332842" cy="332842"/>
          </a:xfrm>
          <a:prstGeom prst="rect">
            <a:avLst/>
          </a:prstGeom>
        </p:spPr>
      </p:pic>
      <p:sp>
        <p:nvSpPr>
          <p:cNvPr id="10" name="Text 6"/>
          <p:cNvSpPr txBox="1"/>
          <p:nvPr/>
        </p:nvSpPr>
        <p:spPr>
          <a:xfrm>
            <a:off x="1417320" y="2907792"/>
            <a:ext cx="3703320" cy="320040"/>
          </a:xfrm>
          <a:prstGeom prst="rect">
            <a:avLst/>
          </a:prstGeom>
          <a:noFill/>
          <a:ln/>
        </p:spPr>
        <p:txBody>
          <a:bodyPr wrap="square" lIns="0" tIns="0" rIns="0" bIns="0" rtlCol="0" anchor="t"/>
          <a:lstStyle/>
          <a:p>
            <a:pPr indent="0" marL="0">
              <a:buNone/>
            </a:pPr>
            <a:r>
              <a:rPr lang="en-US" sz="1600" b="1" dirty="0">
                <a:solidFill>
                  <a:schemeClr val="tx1"/>
                </a:solidFill>
              </a:rPr>
              <a:t>Milestones</a:t>
            </a:r>
            <a:endParaRPr lang="en-US" sz="1600" dirty="0"/>
          </a:p>
        </p:txBody>
      </p:sp>
      <p:sp>
        <p:nvSpPr>
          <p:cNvPr id="11" name="Text 7"/>
          <p:cNvSpPr txBox="1"/>
          <p:nvPr/>
        </p:nvSpPr>
        <p:spPr>
          <a:xfrm>
            <a:off x="1417320" y="3246120"/>
            <a:ext cx="3703320" cy="777240"/>
          </a:xfrm>
          <a:prstGeom prst="rect">
            <a:avLst/>
          </a:prstGeom>
          <a:noFill/>
          <a:ln/>
        </p:spPr>
        <p:txBody>
          <a:bodyPr wrap="square" lIns="0" tIns="0" rIns="0" bIns="0" rtlCol="0" anchor="t"/>
          <a:lstStyle/>
          <a:p>
            <a:pPr indent="0" marL="0">
              <a:buNone/>
            </a:pPr>
            <a:r>
              <a:rPr lang="en-US" sz="1300" dirty="0">
                <a:solidFill>
                  <a:schemeClr val="tx2"/>
                </a:solidFill>
              </a:rPr>
              <a:t>When both sides reach the next milestone and you have enough qualified directs, the reward is paid.</a:t>
            </a:r>
            <a:endParaRPr lang="en-US" sz="1300" dirty="0"/>
          </a:p>
        </p:txBody>
      </p:sp>
      <p:sp>
        <p:nvSpPr>
          <p:cNvPr id="12" name="Month-end icon circle"/>
          <p:cNvSpPr/>
          <p:nvPr/>
        </p:nvSpPr>
        <p:spPr>
          <a:xfrm>
            <a:off x="548640" y="4114800"/>
            <a:ext cx="640080" cy="640080"/>
          </a:xfrm>
          <a:prstGeom prst="ellipse">
            <a:avLst/>
          </a:prstGeom>
          <a:solidFill>
            <a:schemeClr val="accent4"/>
          </a:solidFill>
          <a:ln/>
        </p:spPr>
      </p:sp>
      <p:pic>
        <p:nvPicPr>
          <p:cNvPr id="13" name="Month-end icon" descr="Month-end">    </p:cNvPr>
          <p:cNvPicPr>
            <a:picLocks noChangeAspect="1"/>
          </p:cNvPicPr>
          <p:nvPr/>
        </p:nvPicPr>
        <p:blipFill>
          <a:blip r:embed="rId3"/>
          <a:stretch>
            <a:fillRect/>
          </a:stretch>
        </p:blipFill>
        <p:spPr>
          <a:xfrm>
            <a:off x="702259" y="4268419"/>
            <a:ext cx="332842" cy="332842"/>
          </a:xfrm>
          <a:prstGeom prst="rect">
            <a:avLst/>
          </a:prstGeom>
        </p:spPr>
      </p:pic>
      <p:sp>
        <p:nvSpPr>
          <p:cNvPr id="14" name="Text 9"/>
          <p:cNvSpPr txBox="1"/>
          <p:nvPr/>
        </p:nvSpPr>
        <p:spPr>
          <a:xfrm>
            <a:off x="1417320" y="4096512"/>
            <a:ext cx="3703320" cy="320040"/>
          </a:xfrm>
          <a:prstGeom prst="rect">
            <a:avLst/>
          </a:prstGeom>
          <a:noFill/>
          <a:ln/>
        </p:spPr>
        <p:txBody>
          <a:bodyPr wrap="square" lIns="0" tIns="0" rIns="0" bIns="0" rtlCol="0" anchor="t"/>
          <a:lstStyle/>
          <a:p>
            <a:pPr indent="0" marL="0">
              <a:buNone/>
            </a:pPr>
            <a:r>
              <a:rPr lang="en-US" sz="1600" b="1" dirty="0">
                <a:solidFill>
                  <a:schemeClr val="tx1"/>
                </a:solidFill>
              </a:rPr>
              <a:t>Month-end</a:t>
            </a:r>
            <a:endParaRPr lang="en-US" sz="1600" dirty="0"/>
          </a:p>
        </p:txBody>
      </p:sp>
      <p:sp>
        <p:nvSpPr>
          <p:cNvPr id="15" name="Text 10"/>
          <p:cNvSpPr txBox="1"/>
          <p:nvPr/>
        </p:nvSpPr>
        <p:spPr>
          <a:xfrm>
            <a:off x="1417320" y="4434840"/>
            <a:ext cx="3703320" cy="777240"/>
          </a:xfrm>
          <a:prstGeom prst="rect">
            <a:avLst/>
          </a:prstGeom>
          <a:noFill/>
          <a:ln/>
        </p:spPr>
        <p:txBody>
          <a:bodyPr wrap="square" lIns="0" tIns="0" rIns="0" bIns="0" rtlCol="0" anchor="t"/>
          <a:lstStyle/>
          <a:p>
            <a:pPr indent="0" marL="0">
              <a:buNone/>
            </a:pPr>
            <a:r>
              <a:rPr lang="en-US" sz="1300" dirty="0">
                <a:solidFill>
                  <a:schemeClr val="tx2"/>
                </a:solidFill>
              </a:rPr>
              <a:t>Calculated at the end of every month. Unused entries carry forward; used entries are never reused.</a:t>
            </a:r>
            <a:endParaRPr lang="en-US" sz="1300" dirty="0"/>
          </a:p>
        </p:txBody>
      </p:sp>
      <p:sp>
        <p:nvSpPr>
          <p:cNvPr id="16" name="Pair example band"/>
          <p:cNvSpPr/>
          <p:nvPr/>
        </p:nvSpPr>
        <p:spPr>
          <a:xfrm>
            <a:off x="548640" y="5349240"/>
            <a:ext cx="4572000" cy="777240"/>
          </a:xfrm>
          <a:prstGeom prst="roundRect">
            <a:avLst>
              <a:gd name="adj" fmla="val 14118"/>
            </a:avLst>
          </a:prstGeom>
          <a:solidFill>
            <a:schemeClr val="bg2"/>
          </a:solidFill>
          <a:ln/>
        </p:spPr>
      </p:sp>
      <p:sp>
        <p:nvSpPr>
          <p:cNvPr id="17" name="Text 12"/>
          <p:cNvSpPr txBox="1"/>
          <p:nvPr/>
        </p:nvSpPr>
        <p:spPr>
          <a:xfrm>
            <a:off x="822960" y="5349240"/>
            <a:ext cx="4023360" cy="777240"/>
          </a:xfrm>
          <a:prstGeom prst="rect">
            <a:avLst/>
          </a:prstGeom>
          <a:noFill/>
          <a:ln/>
        </p:spPr>
        <p:txBody>
          <a:bodyPr wrap="square" lIns="0" tIns="0" rIns="0" bIns="0" rtlCol="0" anchor="ctr"/>
          <a:lstStyle/>
          <a:p>
            <a:pPr indent="0" marL="0">
              <a:buNone/>
            </a:pPr>
            <a:r>
              <a:rPr lang="en-US" sz="1350" b="1" dirty="0">
                <a:solidFill>
                  <a:schemeClr val="accent1"/>
                </a:solidFill>
              </a:rPr>
              <a:t>Milestone 1: </a:t>
            </a:r>
            <a:pPr indent="0" marL="0">
              <a:buNone/>
            </a:pPr>
            <a:r>
              <a:rPr lang="en-US" sz="1350" dirty="0">
                <a:solidFill>
                  <a:schemeClr val="tx1"/>
                </a:solidFill>
              </a:rPr>
              <a:t>5 Left + 5 Right = 10 entries × ₹50 = ₹500, with 2 qualified directs.</a:t>
            </a:r>
            <a:endParaRPr lang="en-US" sz="1350" dirty="0"/>
          </a:p>
        </p:txBody>
      </p:sp>
      <p:graphicFrame>
        <p:nvGraphicFramePr>
          <p:cNvPr id="10" name="Pair milestone table"/>
          <p:cNvGraphicFramePr>
            <a:graphicFrameLocks noGrp="1"/>
          </p:cNvGraphicFramePr>
          <p:nvPr>
            <p:extLst>
              <p:ext uri="{D42A27DB-BD31-4B8C-83A1-F6EECF244321}">
                <p14:modId xmlns:p14="http://schemas.microsoft.com/office/powerpoint/2010/main" val="1579011935"/>
              </p:ext>
            </p:extLst>
          </p:nvPr>
        </p:nvGraphicFramePr>
        <p:xfrm>
          <a:off x="5440680" y="1600200"/>
          <a:ext cx="6199632" cy="914400"/>
        </p:xfrm>
        <a:graphic>
          <a:graphicData uri="http://schemas.openxmlformats.org/drawingml/2006/table">
            <a:tbl>
              <a:tblPr/>
              <a:tblGrid>
                <a:gridCol w="457200"/>
                <a:gridCol w="1371600"/>
                <a:gridCol w="868680"/>
                <a:gridCol w="1856232"/>
                <a:gridCol w="1645920"/>
              </a:tblGrid>
              <a:tr h="274320">
                <a:tc>
                  <a:txBody>
                    <a:bodyPr/>
                    <a:lstStyle/>
                    <a:p>
                      <a:pPr algn="ctr" indent="0" marL="0">
                        <a:buNone/>
                      </a:pPr>
                      <a:r>
                        <a:rPr lang="en-US" sz="1100" b="1" dirty="0">
                          <a:solidFill>
                            <a:schemeClr val="bg1"/>
                          </a:solidFill>
                        </a:rPr>
                        <a:t>#</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rPr>
                        <a:t>Milestone</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Directs</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Left + Right</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rPr>
                        <a:t>Reward</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r>
              <a:tr h="274320">
                <a:tc>
                  <a:txBody>
                    <a:bodyPr/>
                    <a:lstStyle/>
                    <a:p>
                      <a:pPr algn="ctr" indent="0" marL="0">
                        <a:buNone/>
                      </a:pPr>
                      <a:r>
                        <a:rPr lang="en-US" sz="1100" dirty="0">
                          <a:solidFill>
                            <a:schemeClr val="tx1"/>
                          </a:solidFill>
                        </a:rPr>
                        <a:t>1</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Starter</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5 + 5</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₹500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2</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Builder</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4</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50 + 50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rPr>
                        <a:t>₹5,000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274320">
                <a:tc>
                  <a:txBody>
                    <a:bodyPr/>
                    <a:lstStyle/>
                    <a:p>
                      <a:pPr algn="ctr" indent="0" marL="0">
                        <a:buNone/>
                      </a:pPr>
                      <a:r>
                        <a:rPr lang="en-US" sz="1100" dirty="0">
                          <a:solidFill>
                            <a:schemeClr val="tx1"/>
                          </a:solidFill>
                        </a:rPr>
                        <a:t>3</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Achiever</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250 + 250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₹25,000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4</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Performer</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8</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500 + 500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rPr>
                        <a:t>₹50,000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274320">
                <a:tc>
                  <a:txBody>
                    <a:bodyPr/>
                    <a:lstStyle/>
                    <a:p>
                      <a:pPr algn="ctr" indent="0" marL="0">
                        <a:buNone/>
                      </a:pPr>
                      <a:r>
                        <a:rPr lang="en-US" sz="1100" dirty="0">
                          <a:solidFill>
                            <a:schemeClr val="tx1"/>
                          </a:solidFill>
                        </a:rPr>
                        <a:t>5</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Leader</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1,000 + 1,000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6</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Champion</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12</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2,000 + 2,000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rPr>
                        <a:t>₹2,00,000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274320">
                <a:tc>
                  <a:txBody>
                    <a:bodyPr/>
                    <a:lstStyle/>
                    <a:p>
                      <a:pPr algn="ctr" indent="0" marL="0">
                        <a:buNone/>
                      </a:pPr>
                      <a:r>
                        <a:rPr lang="en-US" sz="1100" dirty="0">
                          <a:solidFill>
                            <a:schemeClr val="tx1"/>
                          </a:solidFill>
                        </a:rPr>
                        <a:t>7</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Master</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14</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5,000 + 5,000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₹5,00,000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8</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Premium</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16</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10,000 + 10,000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rPr>
                        <a:t>₹10,00,000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274320">
                <a:tc>
                  <a:txBody>
                    <a:bodyPr/>
                    <a:lstStyle/>
                    <a:p>
                      <a:pPr algn="ctr" indent="0" marL="0">
                        <a:buNone/>
                      </a:pPr>
                      <a:r>
                        <a:rPr lang="en-US" sz="1100" dirty="0">
                          <a:solidFill>
                            <a:schemeClr val="tx1"/>
                          </a:solidFill>
                        </a:rPr>
                        <a:t>9</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Platinum</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18</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20,000 + 20,000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10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Diamond</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20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40,000 + 40,000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rPr>
                        <a:t>₹40,00,000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274320">
                <a:tc>
                  <a:txBody>
                    <a:bodyPr/>
                    <a:lstStyle/>
                    <a:p>
                      <a:pPr algn="ctr" indent="0" marL="0">
                        <a:buNone/>
                      </a:pPr>
                      <a:r>
                        <a:rPr lang="en-US" sz="1100" dirty="0">
                          <a:solidFill>
                            <a:schemeClr val="tx1"/>
                          </a:solidFill>
                        </a:rPr>
                        <a:t>11</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Crown</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22</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80,000 + 80,000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₹80,00,000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12</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Royal</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24</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1,60,000 + 1,60,000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rPr>
                        <a:t>₹1,60,00,000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274320">
                <a:tc>
                  <a:txBody>
                    <a:bodyPr/>
                    <a:lstStyle/>
                    <a:p>
                      <a:pPr algn="ctr" indent="0" marL="0">
                        <a:buNone/>
                      </a:pPr>
                      <a:r>
                        <a:rPr lang="en-US" sz="1100" dirty="0">
                          <a:solidFill>
                            <a:schemeClr val="tx1"/>
                          </a:solidFill>
                        </a:rPr>
                        <a:t>13</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Imperial</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26</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3,20,000 + 3,20,000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₹3,20,00,000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14</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Supreme</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28</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rPr>
                        <a:t>6,40,000 + 6,40,000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rPr>
                        <a:t>₹6,40,00,000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274320">
                <a:tc>
                  <a:txBody>
                    <a:bodyPr/>
                    <a:lstStyle/>
                    <a:p>
                      <a:pPr algn="ctr" indent="0" marL="0">
                        <a:buNone/>
                      </a:pPr>
                      <a:r>
                        <a:rPr lang="en-US" sz="1100" dirty="0">
                          <a:solidFill>
                            <a:schemeClr val="tx1"/>
                          </a:solidFill>
                        </a:rPr>
                        <a:t>15</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Maharaja</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30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12,80,000 + 12,80,000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₹12,80,00,000</a:t>
                      </a:r>
                      <a:endParaRPr lang="en-US" sz="1100" dirty="0"/>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Monthly Draw</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Every eligible member joins a draw group and gets a chance to win jewellery every month.</a:t>
            </a:r>
            <a:endParaRPr lang="en-US" sz="1600" dirty="0"/>
          </a:p>
        </p:txBody>
      </p:sp>
      <p:sp>
        <p:nvSpPr>
          <p:cNvPr id="4" name="Text 2"/>
          <p:cNvSpPr txBox="1"/>
          <p:nvPr/>
        </p:nvSpPr>
        <p:spPr>
          <a:xfrm>
            <a:off x="548640" y="1691640"/>
            <a:ext cx="5486400" cy="320040"/>
          </a:xfrm>
          <a:prstGeom prst="rect">
            <a:avLst/>
          </a:prstGeom>
          <a:noFill/>
          <a:ln/>
        </p:spPr>
        <p:txBody>
          <a:bodyPr wrap="square" lIns="0" tIns="0" rIns="0" bIns="0" rtlCol="0" anchor="t"/>
          <a:lstStyle/>
          <a:p>
            <a:pPr indent="0" marL="0">
              <a:buNone/>
            </a:pPr>
            <a:r>
              <a:rPr lang="en-US" sz="1400" b="1" dirty="0">
                <a:solidFill>
                  <a:schemeClr val="tx1"/>
                </a:solidFill>
              </a:rPr>
              <a:t>Each group's 20-month draw cycle</a:t>
            </a:r>
            <a:endParaRPr lang="en-US" sz="1400" dirty="0"/>
          </a:p>
        </p:txBody>
      </p:sp>
      <p:sp>
        <p:nvSpPr>
          <p:cNvPr id="5" name="Silver months bar"/>
          <p:cNvSpPr/>
          <p:nvPr/>
        </p:nvSpPr>
        <p:spPr>
          <a:xfrm>
            <a:off x="548640" y="2103120"/>
            <a:ext cx="8275091" cy="685800"/>
          </a:xfrm>
          <a:prstGeom prst="roundRect">
            <a:avLst>
              <a:gd name="adj" fmla="val 13333"/>
            </a:avLst>
          </a:prstGeom>
          <a:solidFill>
            <a:schemeClr val="accent6"/>
          </a:solidFill>
          <a:ln/>
        </p:spPr>
      </p:sp>
      <p:sp>
        <p:nvSpPr>
          <p:cNvPr id="6" name="Gold months bar"/>
          <p:cNvSpPr/>
          <p:nvPr/>
        </p:nvSpPr>
        <p:spPr>
          <a:xfrm>
            <a:off x="8915171" y="2103120"/>
            <a:ext cx="2727884" cy="685800"/>
          </a:xfrm>
          <a:prstGeom prst="roundRect">
            <a:avLst>
              <a:gd name="adj" fmla="val 13333"/>
            </a:avLst>
          </a:prstGeom>
          <a:solidFill>
            <a:schemeClr val="accent3"/>
          </a:solidFill>
          <a:ln/>
        </p:spPr>
      </p:sp>
      <p:sp>
        <p:nvSpPr>
          <p:cNvPr id="7" name="Text 5"/>
          <p:cNvSpPr txBox="1"/>
          <p:nvPr/>
        </p:nvSpPr>
        <p:spPr>
          <a:xfrm>
            <a:off x="777240" y="2103120"/>
            <a:ext cx="7863611" cy="685800"/>
          </a:xfrm>
          <a:prstGeom prst="rect">
            <a:avLst/>
          </a:prstGeom>
          <a:noFill/>
          <a:ln/>
        </p:spPr>
        <p:txBody>
          <a:bodyPr wrap="square" lIns="0" tIns="0" rIns="0" bIns="0" rtlCol="0" anchor="ctr"/>
          <a:lstStyle/>
          <a:p>
            <a:pPr indent="0" marL="0">
              <a:buNone/>
            </a:pPr>
            <a:r>
              <a:rPr lang="en-US" sz="1500" b="1" dirty="0">
                <a:solidFill>
                  <a:schemeClr val="bg1"/>
                </a:solidFill>
              </a:rPr>
              <a:t>Months 1–15 · Silver prize (default Silver Jewellery, ₹20,000)</a:t>
            </a:r>
            <a:endParaRPr lang="en-US" sz="1500" dirty="0"/>
          </a:p>
        </p:txBody>
      </p:sp>
      <p:sp>
        <p:nvSpPr>
          <p:cNvPr id="8" name="Text 6"/>
          <p:cNvSpPr txBox="1"/>
          <p:nvPr/>
        </p:nvSpPr>
        <p:spPr>
          <a:xfrm>
            <a:off x="9098051" y="2103120"/>
            <a:ext cx="2407844" cy="685800"/>
          </a:xfrm>
          <a:prstGeom prst="rect">
            <a:avLst/>
          </a:prstGeom>
          <a:noFill/>
          <a:ln/>
        </p:spPr>
        <p:txBody>
          <a:bodyPr wrap="square" lIns="0" tIns="0" rIns="0" bIns="0" rtlCol="0" anchor="ctr"/>
          <a:lstStyle/>
          <a:p>
            <a:pPr indent="0" marL="0">
              <a:buNone/>
            </a:pPr>
            <a:r>
              <a:rPr lang="en-US" sz="1300" b="1" dirty="0">
                <a:solidFill>
                  <a:schemeClr val="tx1"/>
                </a:solidFill>
              </a:rPr>
              <a:t>Months 16–20 · Gold, ₹25,000</a:t>
            </a:r>
            <a:endParaRPr lang="en-US" sz="1300" dirty="0"/>
          </a:p>
        </p:txBody>
      </p:sp>
      <p:sp>
        <p:nvSpPr>
          <p:cNvPr id="9" name="Groups of 200 card"/>
          <p:cNvSpPr/>
          <p:nvPr/>
        </p:nvSpPr>
        <p:spPr>
          <a:xfrm>
            <a:off x="548640" y="3154680"/>
            <a:ext cx="2602154" cy="2926080"/>
          </a:xfrm>
          <a:prstGeom prst="roundRect">
            <a:avLst>
              <a:gd name="adj" fmla="val 4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0" name="Groups of 200 icon circle"/>
          <p:cNvSpPr/>
          <p:nvPr/>
        </p:nvSpPr>
        <p:spPr>
          <a:xfrm>
            <a:off x="822960" y="3429000"/>
            <a:ext cx="731520" cy="731520"/>
          </a:xfrm>
          <a:prstGeom prst="ellipse">
            <a:avLst/>
          </a:prstGeom>
          <a:solidFill>
            <a:schemeClr val="accent1"/>
          </a:solidFill>
          <a:ln/>
        </p:spPr>
      </p:sp>
      <p:pic>
        <p:nvPicPr>
          <p:cNvPr id="11" name="Groups of 200 icon" descr="Groups of 200">    </p:cNvPr>
          <p:cNvPicPr>
            <a:picLocks noChangeAspect="1"/>
          </p:cNvPicPr>
          <p:nvPr/>
        </p:nvPicPr>
        <p:blipFill>
          <a:blip r:embed="rId1"/>
          <a:stretch>
            <a:fillRect/>
          </a:stretch>
        </p:blipFill>
        <p:spPr>
          <a:xfrm>
            <a:off x="998525" y="3604565"/>
            <a:ext cx="380390" cy="380390"/>
          </a:xfrm>
          <a:prstGeom prst="rect">
            <a:avLst/>
          </a:prstGeom>
        </p:spPr>
      </p:pic>
      <p:sp>
        <p:nvSpPr>
          <p:cNvPr id="12" name="Text 9"/>
          <p:cNvSpPr txBox="1"/>
          <p:nvPr/>
        </p:nvSpPr>
        <p:spPr>
          <a:xfrm>
            <a:off x="822960" y="4343400"/>
            <a:ext cx="2053514" cy="365760"/>
          </a:xfrm>
          <a:prstGeom prst="rect">
            <a:avLst/>
          </a:prstGeom>
          <a:noFill/>
          <a:ln/>
        </p:spPr>
        <p:txBody>
          <a:bodyPr wrap="square" lIns="0" tIns="0" rIns="0" bIns="0" rtlCol="0" anchor="t"/>
          <a:lstStyle/>
          <a:p>
            <a:pPr indent="0" marL="0">
              <a:buNone/>
            </a:pPr>
            <a:r>
              <a:rPr lang="en-US" sz="1700" b="1" dirty="0">
                <a:solidFill>
                  <a:schemeClr val="tx1"/>
                </a:solidFill>
              </a:rPr>
              <a:t>Groups of 200</a:t>
            </a:r>
            <a:endParaRPr lang="en-US" sz="1700" dirty="0"/>
          </a:p>
        </p:txBody>
      </p:sp>
      <p:sp>
        <p:nvSpPr>
          <p:cNvPr id="13" name="Text 10"/>
          <p:cNvSpPr txBox="1"/>
          <p:nvPr/>
        </p:nvSpPr>
        <p:spPr>
          <a:xfrm>
            <a:off x="822960" y="4754880"/>
            <a:ext cx="2053514" cy="1234440"/>
          </a:xfrm>
          <a:prstGeom prst="rect">
            <a:avLst/>
          </a:prstGeom>
          <a:noFill/>
          <a:ln/>
        </p:spPr>
        <p:txBody>
          <a:bodyPr wrap="square" lIns="0" tIns="0" rIns="0" bIns="0" rtlCol="0" anchor="t"/>
          <a:lstStyle/>
          <a:p>
            <a:pPr indent="0" marL="0">
              <a:buNone/>
            </a:pPr>
            <a:r>
              <a:rPr lang="en-US" sz="1300" dirty="0">
                <a:solidFill>
                  <a:schemeClr val="tx2"/>
                </a:solidFill>
              </a:rPr>
              <a:t>Groups are formed on the 15th, in Customer ID order. Each group draws for 20 months.</a:t>
            </a:r>
            <a:endParaRPr lang="en-US" sz="1300" dirty="0"/>
          </a:p>
        </p:txBody>
      </p:sp>
      <p:sp>
        <p:nvSpPr>
          <p:cNvPr id="14" name="15th, 12:00 PM card"/>
          <p:cNvSpPr/>
          <p:nvPr/>
        </p:nvSpPr>
        <p:spPr>
          <a:xfrm>
            <a:off x="3379394" y="3154680"/>
            <a:ext cx="2602154" cy="2926080"/>
          </a:xfrm>
          <a:prstGeom prst="roundRect">
            <a:avLst>
              <a:gd name="adj" fmla="val 4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5" name="15th, 12:00 PM icon circle"/>
          <p:cNvSpPr/>
          <p:nvPr/>
        </p:nvSpPr>
        <p:spPr>
          <a:xfrm>
            <a:off x="3653714" y="3429000"/>
            <a:ext cx="731520" cy="731520"/>
          </a:xfrm>
          <a:prstGeom prst="ellipse">
            <a:avLst/>
          </a:prstGeom>
          <a:solidFill>
            <a:schemeClr val="accent2"/>
          </a:solidFill>
          <a:ln/>
        </p:spPr>
      </p:sp>
      <p:pic>
        <p:nvPicPr>
          <p:cNvPr id="16" name="15th, 12:00 PM icon" descr="15th, 12:00 PM">    </p:cNvPr>
          <p:cNvPicPr>
            <a:picLocks noChangeAspect="1"/>
          </p:cNvPicPr>
          <p:nvPr/>
        </p:nvPicPr>
        <p:blipFill>
          <a:blip r:embed="rId2"/>
          <a:stretch>
            <a:fillRect/>
          </a:stretch>
        </p:blipFill>
        <p:spPr>
          <a:xfrm>
            <a:off x="3829279" y="3604565"/>
            <a:ext cx="380390" cy="380390"/>
          </a:xfrm>
          <a:prstGeom prst="rect">
            <a:avLst/>
          </a:prstGeom>
        </p:spPr>
      </p:pic>
      <p:sp>
        <p:nvSpPr>
          <p:cNvPr id="17" name="Text 13"/>
          <p:cNvSpPr txBox="1"/>
          <p:nvPr/>
        </p:nvSpPr>
        <p:spPr>
          <a:xfrm>
            <a:off x="3653714" y="4343400"/>
            <a:ext cx="2053514" cy="365760"/>
          </a:xfrm>
          <a:prstGeom prst="rect">
            <a:avLst/>
          </a:prstGeom>
          <a:noFill/>
          <a:ln/>
        </p:spPr>
        <p:txBody>
          <a:bodyPr wrap="square" lIns="0" tIns="0" rIns="0" bIns="0" rtlCol="0" anchor="t"/>
          <a:lstStyle/>
          <a:p>
            <a:pPr indent="0" marL="0">
              <a:buNone/>
            </a:pPr>
            <a:r>
              <a:rPr lang="en-US" sz="1700" b="1" dirty="0">
                <a:solidFill>
                  <a:schemeClr val="tx1"/>
                </a:solidFill>
              </a:rPr>
              <a:t>15th, 12:00 PM</a:t>
            </a:r>
            <a:endParaRPr lang="en-US" sz="1700" dirty="0"/>
          </a:p>
        </p:txBody>
      </p:sp>
      <p:sp>
        <p:nvSpPr>
          <p:cNvPr id="18" name="Text 14"/>
          <p:cNvSpPr txBox="1"/>
          <p:nvPr/>
        </p:nvSpPr>
        <p:spPr>
          <a:xfrm>
            <a:off x="3653714" y="4754880"/>
            <a:ext cx="2053514" cy="1234440"/>
          </a:xfrm>
          <a:prstGeom prst="rect">
            <a:avLst/>
          </a:prstGeom>
          <a:noFill/>
          <a:ln/>
        </p:spPr>
        <p:txBody>
          <a:bodyPr wrap="square" lIns="0" tIns="0" rIns="0" bIns="0" rtlCol="0" anchor="t"/>
          <a:lstStyle/>
          <a:p>
            <a:pPr indent="0" marL="0">
              <a:buNone/>
            </a:pPr>
            <a:r>
              <a:rPr lang="en-US" sz="1300" dirty="0">
                <a:solidFill>
                  <a:schemeClr val="tx2"/>
                </a:solidFill>
              </a:rPr>
              <a:t>The draw runs on the 15th of every month. A winner leaves the group's pool, so nobody wins twice.</a:t>
            </a:r>
            <a:endParaRPr lang="en-US" sz="1300" dirty="0"/>
          </a:p>
        </p:txBody>
      </p:sp>
      <p:sp>
        <p:nvSpPr>
          <p:cNvPr id="19" name="Who is eligible card"/>
          <p:cNvSpPr/>
          <p:nvPr/>
        </p:nvSpPr>
        <p:spPr>
          <a:xfrm>
            <a:off x="6210148" y="3154680"/>
            <a:ext cx="2602154" cy="2926080"/>
          </a:xfrm>
          <a:prstGeom prst="roundRect">
            <a:avLst>
              <a:gd name="adj" fmla="val 4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0" name="Who is eligible icon circle"/>
          <p:cNvSpPr/>
          <p:nvPr/>
        </p:nvSpPr>
        <p:spPr>
          <a:xfrm>
            <a:off x="6484468" y="3429000"/>
            <a:ext cx="731520" cy="731520"/>
          </a:xfrm>
          <a:prstGeom prst="ellipse">
            <a:avLst/>
          </a:prstGeom>
          <a:solidFill>
            <a:schemeClr val="accent4"/>
          </a:solidFill>
          <a:ln/>
        </p:spPr>
      </p:sp>
      <p:pic>
        <p:nvPicPr>
          <p:cNvPr id="21" name="Who is eligible icon" descr="Who is eligible">    </p:cNvPr>
          <p:cNvPicPr>
            <a:picLocks noChangeAspect="1"/>
          </p:cNvPicPr>
          <p:nvPr/>
        </p:nvPicPr>
        <p:blipFill>
          <a:blip r:embed="rId3"/>
          <a:stretch>
            <a:fillRect/>
          </a:stretch>
        </p:blipFill>
        <p:spPr>
          <a:xfrm>
            <a:off x="6660032" y="3604565"/>
            <a:ext cx="380390" cy="380390"/>
          </a:xfrm>
          <a:prstGeom prst="rect">
            <a:avLst/>
          </a:prstGeom>
        </p:spPr>
      </p:pic>
      <p:sp>
        <p:nvSpPr>
          <p:cNvPr id="22" name="Text 17"/>
          <p:cNvSpPr txBox="1"/>
          <p:nvPr/>
        </p:nvSpPr>
        <p:spPr>
          <a:xfrm>
            <a:off x="6484468" y="4343400"/>
            <a:ext cx="2053514" cy="365760"/>
          </a:xfrm>
          <a:prstGeom prst="rect">
            <a:avLst/>
          </a:prstGeom>
          <a:noFill/>
          <a:ln/>
        </p:spPr>
        <p:txBody>
          <a:bodyPr wrap="square" lIns="0" tIns="0" rIns="0" bIns="0" rtlCol="0" anchor="t"/>
          <a:lstStyle/>
          <a:p>
            <a:pPr indent="0" marL="0">
              <a:buNone/>
            </a:pPr>
            <a:r>
              <a:rPr lang="en-US" sz="1700" b="1" dirty="0">
                <a:solidFill>
                  <a:schemeClr val="tx1"/>
                </a:solidFill>
              </a:rPr>
              <a:t>Who is eligible</a:t>
            </a:r>
            <a:endParaRPr lang="en-US" sz="1700" dirty="0"/>
          </a:p>
        </p:txBody>
      </p:sp>
      <p:sp>
        <p:nvSpPr>
          <p:cNvPr id="23" name="Text 18"/>
          <p:cNvSpPr txBox="1"/>
          <p:nvPr/>
        </p:nvSpPr>
        <p:spPr>
          <a:xfrm>
            <a:off x="6484468" y="4754880"/>
            <a:ext cx="2053514" cy="1234440"/>
          </a:xfrm>
          <a:prstGeom prst="rect">
            <a:avLst/>
          </a:prstGeom>
          <a:noFill/>
          <a:ln/>
        </p:spPr>
        <p:txBody>
          <a:bodyPr wrap="square" lIns="0" tIns="0" rIns="0" bIns="0" rtlCol="0" anchor="t"/>
          <a:lstStyle/>
          <a:p>
            <a:pPr indent="0" marL="0">
              <a:buNone/>
            </a:pPr>
            <a:r>
              <a:rPr lang="en-US" sz="1300" dirty="0">
                <a:solidFill>
                  <a:schemeClr val="tx2"/>
                </a:solidFill>
              </a:rPr>
              <a:t>Silver Start: 6 EMIs paid · Silver Prime: 2 · Gold Rise: 2 · Gold Elite: 1 · Direct plans: paid in full.</a:t>
            </a:r>
            <a:endParaRPr lang="en-US" sz="1300" dirty="0"/>
          </a:p>
        </p:txBody>
      </p:sp>
      <p:sp>
        <p:nvSpPr>
          <p:cNvPr id="24" name="Sponsor bonus card"/>
          <p:cNvSpPr/>
          <p:nvPr/>
        </p:nvSpPr>
        <p:spPr>
          <a:xfrm>
            <a:off x="9040901" y="3154680"/>
            <a:ext cx="2602154" cy="2926080"/>
          </a:xfrm>
          <a:prstGeom prst="roundRect">
            <a:avLst>
              <a:gd name="adj" fmla="val 4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5" name="Sponsor bonus icon circle"/>
          <p:cNvSpPr/>
          <p:nvPr/>
        </p:nvSpPr>
        <p:spPr>
          <a:xfrm>
            <a:off x="9315221" y="3429000"/>
            <a:ext cx="731520" cy="731520"/>
          </a:xfrm>
          <a:prstGeom prst="ellipse">
            <a:avLst/>
          </a:prstGeom>
          <a:solidFill>
            <a:schemeClr val="accent5"/>
          </a:solidFill>
          <a:ln/>
        </p:spPr>
      </p:sp>
      <p:pic>
        <p:nvPicPr>
          <p:cNvPr id="26" name="Sponsor bonus icon" descr="Sponsor bonus">    </p:cNvPr>
          <p:cNvPicPr>
            <a:picLocks noChangeAspect="1"/>
          </p:cNvPicPr>
          <p:nvPr/>
        </p:nvPicPr>
        <p:blipFill>
          <a:blip r:embed="rId4"/>
          <a:stretch>
            <a:fillRect/>
          </a:stretch>
        </p:blipFill>
        <p:spPr>
          <a:xfrm>
            <a:off x="9490786" y="3604565"/>
            <a:ext cx="380390" cy="380390"/>
          </a:xfrm>
          <a:prstGeom prst="rect">
            <a:avLst/>
          </a:prstGeom>
        </p:spPr>
      </p:pic>
      <p:sp>
        <p:nvSpPr>
          <p:cNvPr id="27" name="Text 21"/>
          <p:cNvSpPr txBox="1"/>
          <p:nvPr/>
        </p:nvSpPr>
        <p:spPr>
          <a:xfrm>
            <a:off x="9315221" y="4343400"/>
            <a:ext cx="2053514" cy="365760"/>
          </a:xfrm>
          <a:prstGeom prst="rect">
            <a:avLst/>
          </a:prstGeom>
          <a:noFill/>
          <a:ln/>
        </p:spPr>
        <p:txBody>
          <a:bodyPr wrap="square" lIns="0" tIns="0" rIns="0" bIns="0" rtlCol="0" anchor="t"/>
          <a:lstStyle/>
          <a:p>
            <a:pPr indent="0" marL="0">
              <a:buNone/>
            </a:pPr>
            <a:r>
              <a:rPr lang="en-US" sz="1700" b="1" dirty="0">
                <a:solidFill>
                  <a:schemeClr val="tx1"/>
                </a:solidFill>
              </a:rPr>
              <a:t>Sponsor bonus</a:t>
            </a:r>
            <a:endParaRPr lang="en-US" sz="1700" dirty="0"/>
          </a:p>
        </p:txBody>
      </p:sp>
      <p:sp>
        <p:nvSpPr>
          <p:cNvPr id="28" name="Text 22"/>
          <p:cNvSpPr txBox="1"/>
          <p:nvPr/>
        </p:nvSpPr>
        <p:spPr>
          <a:xfrm>
            <a:off x="9315221" y="4754880"/>
            <a:ext cx="2053514" cy="1234440"/>
          </a:xfrm>
          <a:prstGeom prst="rect">
            <a:avLst/>
          </a:prstGeom>
          <a:noFill/>
          <a:ln/>
        </p:spPr>
        <p:txBody>
          <a:bodyPr wrap="square" lIns="0" tIns="0" rIns="0" bIns="0" rtlCol="0" anchor="t"/>
          <a:lstStyle/>
          <a:p>
            <a:pPr indent="0" marL="0">
              <a:buNone/>
            </a:pPr>
            <a:r>
              <a:rPr lang="en-US" sz="1300" dirty="0">
                <a:solidFill>
                  <a:schemeClr val="tx2"/>
                </a:solidFill>
              </a:rPr>
              <a:t>If the winner's sponsor has 10 or more directs, the sponsor gets the same prize too.</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Income Booster</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Build a big, balanced team and earn a fixed monthly benefit. Qualify once — get paid every month for the full duration.</a:t>
            </a:r>
            <a:endParaRPr lang="en-US" sz="1600" dirty="0"/>
          </a:p>
        </p:txBody>
      </p:sp>
      <p:sp>
        <p:nvSpPr>
          <p:cNvPr id="4" name="Level 1 card"/>
          <p:cNvSpPr/>
          <p:nvPr/>
        </p:nvSpPr>
        <p:spPr>
          <a:xfrm>
            <a:off x="548640" y="1691640"/>
            <a:ext cx="3454298" cy="3520440"/>
          </a:xfrm>
          <a:prstGeom prst="roundRect">
            <a:avLst>
              <a:gd name="adj" fmla="val 317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Level 1 header"/>
          <p:cNvSpPr/>
          <p:nvPr/>
        </p:nvSpPr>
        <p:spPr>
          <a:xfrm>
            <a:off x="548640" y="1691640"/>
            <a:ext cx="3454298" cy="640080"/>
          </a:xfrm>
          <a:prstGeom prst="roundRect">
            <a:avLst>
              <a:gd name="adj" fmla="val 17143"/>
            </a:avLst>
          </a:prstGeom>
          <a:solidFill>
            <a:schemeClr val="accent4"/>
          </a:solidFill>
          <a:ln/>
        </p:spPr>
      </p:sp>
      <p:sp>
        <p:nvSpPr>
          <p:cNvPr id="6" name="Level 1 header base"/>
          <p:cNvSpPr/>
          <p:nvPr/>
        </p:nvSpPr>
        <p:spPr>
          <a:xfrm>
            <a:off x="548640" y="2103120"/>
            <a:ext cx="3454298" cy="228600"/>
          </a:xfrm>
          <a:prstGeom prst="rect">
            <a:avLst/>
          </a:prstGeom>
          <a:solidFill>
            <a:schemeClr val="accent4"/>
          </a:solidFill>
          <a:ln/>
        </p:spPr>
      </p:sp>
      <p:sp>
        <p:nvSpPr>
          <p:cNvPr id="7" name="Text 5"/>
          <p:cNvSpPr txBox="1"/>
          <p:nvPr/>
        </p:nvSpPr>
        <p:spPr>
          <a:xfrm>
            <a:off x="822960" y="1691640"/>
            <a:ext cx="2905658" cy="640080"/>
          </a:xfrm>
          <a:prstGeom prst="rect">
            <a:avLst/>
          </a:prstGeom>
          <a:noFill/>
          <a:ln/>
        </p:spPr>
        <p:txBody>
          <a:bodyPr wrap="square" lIns="0" tIns="0" rIns="0" bIns="0" rtlCol="0" anchor="ctr"/>
          <a:lstStyle/>
          <a:p>
            <a:pPr indent="0" marL="0">
              <a:buNone/>
            </a:pPr>
            <a:r>
              <a:rPr lang="en-US" sz="2000" b="1" dirty="0">
                <a:solidFill>
                  <a:schemeClr val="bg1"/>
                </a:solidFill>
              </a:rPr>
              <a:t>Level 1</a:t>
            </a:r>
            <a:endParaRPr lang="en-US" sz="2000" dirty="0"/>
          </a:p>
        </p:txBody>
      </p:sp>
      <p:sp>
        <p:nvSpPr>
          <p:cNvPr id="8" name="Text 6"/>
          <p:cNvSpPr txBox="1"/>
          <p:nvPr/>
        </p:nvSpPr>
        <p:spPr>
          <a:xfrm>
            <a:off x="822960" y="2514600"/>
            <a:ext cx="2905658" cy="685800"/>
          </a:xfrm>
          <a:prstGeom prst="rect">
            <a:avLst/>
          </a:prstGeom>
          <a:noFill/>
          <a:ln/>
        </p:spPr>
        <p:txBody>
          <a:bodyPr wrap="square" lIns="0" tIns="0" rIns="0" bIns="0" rtlCol="0" anchor="t"/>
          <a:lstStyle/>
          <a:p>
            <a:pPr indent="0" marL="0">
              <a:buNone/>
            </a:pPr>
            <a:r>
              <a:rPr lang="en-US" sz="4000" b="1" dirty="0">
                <a:solidFill>
                  <a:schemeClr val="tx1"/>
                </a:solidFill>
              </a:rPr>
              <a:t>₹5,000</a:t>
            </a:r>
            <a:endParaRPr lang="en-US" sz="4000" dirty="0"/>
          </a:p>
        </p:txBody>
      </p:sp>
      <p:sp>
        <p:nvSpPr>
          <p:cNvPr id="9" name="Text 7"/>
          <p:cNvSpPr txBox="1"/>
          <p:nvPr/>
        </p:nvSpPr>
        <p:spPr>
          <a:xfrm>
            <a:off x="822960" y="3200400"/>
            <a:ext cx="2905658" cy="320040"/>
          </a:xfrm>
          <a:prstGeom prst="rect">
            <a:avLst/>
          </a:prstGeom>
          <a:noFill/>
          <a:ln/>
        </p:spPr>
        <p:txBody>
          <a:bodyPr wrap="square" lIns="0" tIns="0" rIns="0" bIns="0" rtlCol="0" anchor="t"/>
          <a:lstStyle/>
          <a:p>
            <a:pPr indent="0" marL="0">
              <a:buNone/>
            </a:pPr>
            <a:r>
              <a:rPr lang="en-US" sz="1400" dirty="0">
                <a:solidFill>
                  <a:schemeClr val="tx2"/>
                </a:solidFill>
              </a:rPr>
              <a:t>per month for 12 months</a:t>
            </a:r>
            <a:endParaRPr lang="en-US" sz="1400" dirty="0"/>
          </a:p>
        </p:txBody>
      </p:sp>
      <p:sp>
        <p:nvSpPr>
          <p:cNvPr id="10" name="Text 8"/>
          <p:cNvSpPr txBox="1"/>
          <p:nvPr/>
        </p:nvSpPr>
        <p:spPr>
          <a:xfrm>
            <a:off x="822960" y="3703320"/>
            <a:ext cx="1899864" cy="365760"/>
          </a:xfrm>
          <a:prstGeom prst="rect">
            <a:avLst/>
          </a:prstGeom>
          <a:noFill/>
          <a:ln/>
        </p:spPr>
        <p:txBody>
          <a:bodyPr wrap="square" lIns="0" tIns="0" rIns="0" bIns="0" rtlCol="0" anchor="ctr"/>
          <a:lstStyle/>
          <a:p>
            <a:pPr indent="0" marL="0">
              <a:buNone/>
            </a:pPr>
            <a:r>
              <a:rPr lang="en-US" sz="1300" dirty="0">
                <a:solidFill>
                  <a:schemeClr val="tx2"/>
                </a:solidFill>
              </a:rPr>
              <a:t>Qualified directs</a:t>
            </a:r>
            <a:endParaRPr lang="en-US" sz="1300" dirty="0"/>
          </a:p>
        </p:txBody>
      </p:sp>
      <p:sp>
        <p:nvSpPr>
          <p:cNvPr id="11" name="Text 9"/>
          <p:cNvSpPr txBox="1"/>
          <p:nvPr/>
        </p:nvSpPr>
        <p:spPr>
          <a:xfrm>
            <a:off x="2275789" y="37033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10</a:t>
            </a:r>
            <a:endParaRPr lang="en-US" sz="1400" dirty="0"/>
          </a:p>
        </p:txBody>
      </p:sp>
      <p:sp>
        <p:nvSpPr>
          <p:cNvPr id="12" name="Text 10"/>
          <p:cNvSpPr txBox="1"/>
          <p:nvPr/>
        </p:nvSpPr>
        <p:spPr>
          <a:xfrm>
            <a:off x="822960" y="4160520"/>
            <a:ext cx="1899864" cy="365760"/>
          </a:xfrm>
          <a:prstGeom prst="rect">
            <a:avLst/>
          </a:prstGeom>
          <a:noFill/>
          <a:ln/>
        </p:spPr>
        <p:txBody>
          <a:bodyPr wrap="square" lIns="0" tIns="0" rIns="0" bIns="0" rtlCol="0" anchor="ctr"/>
          <a:lstStyle/>
          <a:p>
            <a:pPr indent="0" marL="0">
              <a:buNone/>
            </a:pPr>
            <a:r>
              <a:rPr lang="en-US" sz="1300" dirty="0">
                <a:solidFill>
                  <a:schemeClr val="tx2"/>
                </a:solidFill>
              </a:rPr>
              <a:t>Team (Left + Right)</a:t>
            </a:r>
            <a:endParaRPr lang="en-US" sz="1300" dirty="0"/>
          </a:p>
        </p:txBody>
      </p:sp>
      <p:sp>
        <p:nvSpPr>
          <p:cNvPr id="13" name="Text 11"/>
          <p:cNvSpPr txBox="1"/>
          <p:nvPr/>
        </p:nvSpPr>
        <p:spPr>
          <a:xfrm>
            <a:off x="2275789" y="41605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250 + 250</a:t>
            </a:r>
            <a:endParaRPr lang="en-US" sz="1400" dirty="0"/>
          </a:p>
        </p:txBody>
      </p:sp>
      <p:sp>
        <p:nvSpPr>
          <p:cNvPr id="14" name="Text 12"/>
          <p:cNvSpPr txBox="1"/>
          <p:nvPr/>
        </p:nvSpPr>
        <p:spPr>
          <a:xfrm>
            <a:off x="822960" y="4617720"/>
            <a:ext cx="1899864" cy="365760"/>
          </a:xfrm>
          <a:prstGeom prst="rect">
            <a:avLst/>
          </a:prstGeom>
          <a:noFill/>
          <a:ln/>
        </p:spPr>
        <p:txBody>
          <a:bodyPr wrap="square" lIns="0" tIns="0" rIns="0" bIns="0" rtlCol="0" anchor="ctr"/>
          <a:lstStyle/>
          <a:p>
            <a:pPr indent="0" marL="0">
              <a:buNone/>
            </a:pPr>
            <a:r>
              <a:rPr lang="en-US" sz="1300" dirty="0">
                <a:solidFill>
                  <a:schemeClr val="tx2"/>
                </a:solidFill>
              </a:rPr>
              <a:t>Total benefit</a:t>
            </a:r>
            <a:endParaRPr lang="en-US" sz="1300" dirty="0"/>
          </a:p>
        </p:txBody>
      </p:sp>
      <p:sp>
        <p:nvSpPr>
          <p:cNvPr id="15" name="Text 13"/>
          <p:cNvSpPr txBox="1"/>
          <p:nvPr/>
        </p:nvSpPr>
        <p:spPr>
          <a:xfrm>
            <a:off x="2275789" y="46177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₹60,000</a:t>
            </a:r>
            <a:endParaRPr lang="en-US" sz="1400" dirty="0"/>
          </a:p>
        </p:txBody>
      </p:sp>
      <p:sp>
        <p:nvSpPr>
          <p:cNvPr id="16" name="Level 2 card"/>
          <p:cNvSpPr/>
          <p:nvPr/>
        </p:nvSpPr>
        <p:spPr>
          <a:xfrm>
            <a:off x="4368698" y="1691640"/>
            <a:ext cx="3454298" cy="3520440"/>
          </a:xfrm>
          <a:prstGeom prst="roundRect">
            <a:avLst>
              <a:gd name="adj" fmla="val 317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7" name="Level 2 header"/>
          <p:cNvSpPr/>
          <p:nvPr/>
        </p:nvSpPr>
        <p:spPr>
          <a:xfrm>
            <a:off x="4368698" y="1691640"/>
            <a:ext cx="3454298" cy="640080"/>
          </a:xfrm>
          <a:prstGeom prst="roundRect">
            <a:avLst>
              <a:gd name="adj" fmla="val 17143"/>
            </a:avLst>
          </a:prstGeom>
          <a:solidFill>
            <a:schemeClr val="accent1"/>
          </a:solidFill>
          <a:ln/>
        </p:spPr>
      </p:sp>
      <p:sp>
        <p:nvSpPr>
          <p:cNvPr id="18" name="Level 2 header base"/>
          <p:cNvSpPr/>
          <p:nvPr/>
        </p:nvSpPr>
        <p:spPr>
          <a:xfrm>
            <a:off x="4368698" y="2103120"/>
            <a:ext cx="3454298" cy="228600"/>
          </a:xfrm>
          <a:prstGeom prst="rect">
            <a:avLst/>
          </a:prstGeom>
          <a:solidFill>
            <a:schemeClr val="accent1"/>
          </a:solidFill>
          <a:ln/>
        </p:spPr>
      </p:sp>
      <p:sp>
        <p:nvSpPr>
          <p:cNvPr id="19" name="Text 17"/>
          <p:cNvSpPr txBox="1"/>
          <p:nvPr/>
        </p:nvSpPr>
        <p:spPr>
          <a:xfrm>
            <a:off x="4643018" y="1691640"/>
            <a:ext cx="2905658" cy="640080"/>
          </a:xfrm>
          <a:prstGeom prst="rect">
            <a:avLst/>
          </a:prstGeom>
          <a:noFill/>
          <a:ln/>
        </p:spPr>
        <p:txBody>
          <a:bodyPr wrap="square" lIns="0" tIns="0" rIns="0" bIns="0" rtlCol="0" anchor="ctr"/>
          <a:lstStyle/>
          <a:p>
            <a:pPr indent="0" marL="0">
              <a:buNone/>
            </a:pPr>
            <a:r>
              <a:rPr lang="en-US" sz="2000" b="1" dirty="0">
                <a:solidFill>
                  <a:schemeClr val="bg1"/>
                </a:solidFill>
              </a:rPr>
              <a:t>Level 2</a:t>
            </a:r>
            <a:endParaRPr lang="en-US" sz="2000" dirty="0"/>
          </a:p>
        </p:txBody>
      </p:sp>
      <p:sp>
        <p:nvSpPr>
          <p:cNvPr id="20" name="Text 18"/>
          <p:cNvSpPr txBox="1"/>
          <p:nvPr/>
        </p:nvSpPr>
        <p:spPr>
          <a:xfrm>
            <a:off x="4643018" y="2514600"/>
            <a:ext cx="2905658" cy="685800"/>
          </a:xfrm>
          <a:prstGeom prst="rect">
            <a:avLst/>
          </a:prstGeom>
          <a:noFill/>
          <a:ln/>
        </p:spPr>
        <p:txBody>
          <a:bodyPr wrap="square" lIns="0" tIns="0" rIns="0" bIns="0" rtlCol="0" anchor="t"/>
          <a:lstStyle/>
          <a:p>
            <a:pPr indent="0" marL="0">
              <a:buNone/>
            </a:pPr>
            <a:r>
              <a:rPr lang="en-US" sz="4000" b="1" dirty="0">
                <a:solidFill>
                  <a:schemeClr val="tx1"/>
                </a:solidFill>
              </a:rPr>
              <a:t>₹20,000</a:t>
            </a:r>
            <a:endParaRPr lang="en-US" sz="4000" dirty="0"/>
          </a:p>
        </p:txBody>
      </p:sp>
      <p:sp>
        <p:nvSpPr>
          <p:cNvPr id="21" name="Text 19"/>
          <p:cNvSpPr txBox="1"/>
          <p:nvPr/>
        </p:nvSpPr>
        <p:spPr>
          <a:xfrm>
            <a:off x="4643018" y="3200400"/>
            <a:ext cx="2905658" cy="320040"/>
          </a:xfrm>
          <a:prstGeom prst="rect">
            <a:avLst/>
          </a:prstGeom>
          <a:noFill/>
          <a:ln/>
        </p:spPr>
        <p:txBody>
          <a:bodyPr wrap="square" lIns="0" tIns="0" rIns="0" bIns="0" rtlCol="0" anchor="t"/>
          <a:lstStyle/>
          <a:p>
            <a:pPr indent="0" marL="0">
              <a:buNone/>
            </a:pPr>
            <a:r>
              <a:rPr lang="en-US" sz="1400" dirty="0">
                <a:solidFill>
                  <a:schemeClr val="tx2"/>
                </a:solidFill>
              </a:rPr>
              <a:t>per month for 6 months</a:t>
            </a:r>
            <a:endParaRPr lang="en-US" sz="1400" dirty="0"/>
          </a:p>
        </p:txBody>
      </p:sp>
      <p:sp>
        <p:nvSpPr>
          <p:cNvPr id="22" name="Text 20"/>
          <p:cNvSpPr txBox="1"/>
          <p:nvPr/>
        </p:nvSpPr>
        <p:spPr>
          <a:xfrm>
            <a:off x="4643018" y="3703320"/>
            <a:ext cx="1899864" cy="365760"/>
          </a:xfrm>
          <a:prstGeom prst="rect">
            <a:avLst/>
          </a:prstGeom>
          <a:noFill/>
          <a:ln/>
        </p:spPr>
        <p:txBody>
          <a:bodyPr wrap="square" lIns="0" tIns="0" rIns="0" bIns="0" rtlCol="0" anchor="ctr"/>
          <a:lstStyle/>
          <a:p>
            <a:pPr indent="0" marL="0">
              <a:buNone/>
            </a:pPr>
            <a:r>
              <a:rPr lang="en-US" sz="1300" dirty="0">
                <a:solidFill>
                  <a:schemeClr val="tx2"/>
                </a:solidFill>
              </a:rPr>
              <a:t>Qualified directs</a:t>
            </a:r>
            <a:endParaRPr lang="en-US" sz="1300" dirty="0"/>
          </a:p>
        </p:txBody>
      </p:sp>
      <p:sp>
        <p:nvSpPr>
          <p:cNvPr id="23" name="Text 21"/>
          <p:cNvSpPr txBox="1"/>
          <p:nvPr/>
        </p:nvSpPr>
        <p:spPr>
          <a:xfrm>
            <a:off x="6095848" y="37033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20</a:t>
            </a:r>
            <a:endParaRPr lang="en-US" sz="1400" dirty="0"/>
          </a:p>
        </p:txBody>
      </p:sp>
      <p:sp>
        <p:nvSpPr>
          <p:cNvPr id="24" name="Text 22"/>
          <p:cNvSpPr txBox="1"/>
          <p:nvPr/>
        </p:nvSpPr>
        <p:spPr>
          <a:xfrm>
            <a:off x="4643018" y="4160520"/>
            <a:ext cx="1899864" cy="365760"/>
          </a:xfrm>
          <a:prstGeom prst="rect">
            <a:avLst/>
          </a:prstGeom>
          <a:noFill/>
          <a:ln/>
        </p:spPr>
        <p:txBody>
          <a:bodyPr wrap="square" lIns="0" tIns="0" rIns="0" bIns="0" rtlCol="0" anchor="ctr"/>
          <a:lstStyle/>
          <a:p>
            <a:pPr indent="0" marL="0">
              <a:buNone/>
            </a:pPr>
            <a:r>
              <a:rPr lang="en-US" sz="1300" dirty="0">
                <a:solidFill>
                  <a:schemeClr val="tx2"/>
                </a:solidFill>
              </a:rPr>
              <a:t>Team (Left + Right)</a:t>
            </a:r>
            <a:endParaRPr lang="en-US" sz="1300" dirty="0"/>
          </a:p>
        </p:txBody>
      </p:sp>
      <p:sp>
        <p:nvSpPr>
          <p:cNvPr id="25" name="Text 23"/>
          <p:cNvSpPr txBox="1"/>
          <p:nvPr/>
        </p:nvSpPr>
        <p:spPr>
          <a:xfrm>
            <a:off x="6095848" y="41605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750 + 750</a:t>
            </a:r>
            <a:endParaRPr lang="en-US" sz="1400" dirty="0"/>
          </a:p>
        </p:txBody>
      </p:sp>
      <p:sp>
        <p:nvSpPr>
          <p:cNvPr id="26" name="Text 24"/>
          <p:cNvSpPr txBox="1"/>
          <p:nvPr/>
        </p:nvSpPr>
        <p:spPr>
          <a:xfrm>
            <a:off x="4643018" y="4617720"/>
            <a:ext cx="1899864" cy="365760"/>
          </a:xfrm>
          <a:prstGeom prst="rect">
            <a:avLst/>
          </a:prstGeom>
          <a:noFill/>
          <a:ln/>
        </p:spPr>
        <p:txBody>
          <a:bodyPr wrap="square" lIns="0" tIns="0" rIns="0" bIns="0" rtlCol="0" anchor="ctr"/>
          <a:lstStyle/>
          <a:p>
            <a:pPr indent="0" marL="0">
              <a:buNone/>
            </a:pPr>
            <a:r>
              <a:rPr lang="en-US" sz="1300" dirty="0">
                <a:solidFill>
                  <a:schemeClr val="tx2"/>
                </a:solidFill>
              </a:rPr>
              <a:t>Total benefit</a:t>
            </a:r>
            <a:endParaRPr lang="en-US" sz="1300" dirty="0"/>
          </a:p>
        </p:txBody>
      </p:sp>
      <p:sp>
        <p:nvSpPr>
          <p:cNvPr id="27" name="Text 25"/>
          <p:cNvSpPr txBox="1"/>
          <p:nvPr/>
        </p:nvSpPr>
        <p:spPr>
          <a:xfrm>
            <a:off x="6095848" y="46177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₹1,20,000</a:t>
            </a:r>
            <a:endParaRPr lang="en-US" sz="1400" dirty="0"/>
          </a:p>
        </p:txBody>
      </p:sp>
      <p:sp>
        <p:nvSpPr>
          <p:cNvPr id="28" name="Level 3 card"/>
          <p:cNvSpPr/>
          <p:nvPr/>
        </p:nvSpPr>
        <p:spPr>
          <a:xfrm>
            <a:off x="8188757" y="1691640"/>
            <a:ext cx="3454298" cy="3520440"/>
          </a:xfrm>
          <a:prstGeom prst="roundRect">
            <a:avLst>
              <a:gd name="adj" fmla="val 317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9" name="Level 3 header"/>
          <p:cNvSpPr/>
          <p:nvPr/>
        </p:nvSpPr>
        <p:spPr>
          <a:xfrm>
            <a:off x="8188757" y="1691640"/>
            <a:ext cx="3454298" cy="640080"/>
          </a:xfrm>
          <a:prstGeom prst="roundRect">
            <a:avLst>
              <a:gd name="adj" fmla="val 17143"/>
            </a:avLst>
          </a:prstGeom>
          <a:solidFill>
            <a:schemeClr val="accent2"/>
          </a:solidFill>
          <a:ln/>
        </p:spPr>
      </p:sp>
      <p:sp>
        <p:nvSpPr>
          <p:cNvPr id="30" name="Level 3 header base"/>
          <p:cNvSpPr/>
          <p:nvPr/>
        </p:nvSpPr>
        <p:spPr>
          <a:xfrm>
            <a:off x="8188757" y="2103120"/>
            <a:ext cx="3454298" cy="228600"/>
          </a:xfrm>
          <a:prstGeom prst="rect">
            <a:avLst/>
          </a:prstGeom>
          <a:solidFill>
            <a:schemeClr val="accent2"/>
          </a:solidFill>
          <a:ln/>
        </p:spPr>
      </p:sp>
      <p:sp>
        <p:nvSpPr>
          <p:cNvPr id="31" name="Text 29"/>
          <p:cNvSpPr txBox="1"/>
          <p:nvPr/>
        </p:nvSpPr>
        <p:spPr>
          <a:xfrm>
            <a:off x="8463077" y="1691640"/>
            <a:ext cx="2905658" cy="640080"/>
          </a:xfrm>
          <a:prstGeom prst="rect">
            <a:avLst/>
          </a:prstGeom>
          <a:noFill/>
          <a:ln/>
        </p:spPr>
        <p:txBody>
          <a:bodyPr wrap="square" lIns="0" tIns="0" rIns="0" bIns="0" rtlCol="0" anchor="ctr"/>
          <a:lstStyle/>
          <a:p>
            <a:pPr indent="0" marL="0">
              <a:buNone/>
            </a:pPr>
            <a:r>
              <a:rPr lang="en-US" sz="2000" b="1" dirty="0">
                <a:solidFill>
                  <a:schemeClr val="bg1"/>
                </a:solidFill>
              </a:rPr>
              <a:t>Level 3</a:t>
            </a:r>
            <a:endParaRPr lang="en-US" sz="2000" dirty="0"/>
          </a:p>
        </p:txBody>
      </p:sp>
      <p:sp>
        <p:nvSpPr>
          <p:cNvPr id="32" name="Text 30"/>
          <p:cNvSpPr txBox="1"/>
          <p:nvPr/>
        </p:nvSpPr>
        <p:spPr>
          <a:xfrm>
            <a:off x="8463077" y="2514600"/>
            <a:ext cx="2905658" cy="685800"/>
          </a:xfrm>
          <a:prstGeom prst="rect">
            <a:avLst/>
          </a:prstGeom>
          <a:noFill/>
          <a:ln/>
        </p:spPr>
        <p:txBody>
          <a:bodyPr wrap="square" lIns="0" tIns="0" rIns="0" bIns="0" rtlCol="0" anchor="t"/>
          <a:lstStyle/>
          <a:p>
            <a:pPr indent="0" marL="0">
              <a:buNone/>
            </a:pPr>
            <a:r>
              <a:rPr lang="en-US" sz="4000" b="1" dirty="0">
                <a:solidFill>
                  <a:schemeClr val="tx1"/>
                </a:solidFill>
              </a:rPr>
              <a:t>₹60,000</a:t>
            </a:r>
            <a:endParaRPr lang="en-US" sz="4000" dirty="0"/>
          </a:p>
        </p:txBody>
      </p:sp>
      <p:sp>
        <p:nvSpPr>
          <p:cNvPr id="33" name="Text 31"/>
          <p:cNvSpPr txBox="1"/>
          <p:nvPr/>
        </p:nvSpPr>
        <p:spPr>
          <a:xfrm>
            <a:off x="8463077" y="3200400"/>
            <a:ext cx="2905658" cy="320040"/>
          </a:xfrm>
          <a:prstGeom prst="rect">
            <a:avLst/>
          </a:prstGeom>
          <a:noFill/>
          <a:ln/>
        </p:spPr>
        <p:txBody>
          <a:bodyPr wrap="square" lIns="0" tIns="0" rIns="0" bIns="0" rtlCol="0" anchor="t"/>
          <a:lstStyle/>
          <a:p>
            <a:pPr indent="0" marL="0">
              <a:buNone/>
            </a:pPr>
            <a:r>
              <a:rPr lang="en-US" sz="1400" dirty="0">
                <a:solidFill>
                  <a:schemeClr val="tx2"/>
                </a:solidFill>
              </a:rPr>
              <a:t>per month for 6 months</a:t>
            </a:r>
            <a:endParaRPr lang="en-US" sz="1400" dirty="0"/>
          </a:p>
        </p:txBody>
      </p:sp>
      <p:sp>
        <p:nvSpPr>
          <p:cNvPr id="34" name="Text 32"/>
          <p:cNvSpPr txBox="1"/>
          <p:nvPr/>
        </p:nvSpPr>
        <p:spPr>
          <a:xfrm>
            <a:off x="8463077" y="3703320"/>
            <a:ext cx="1899864" cy="365760"/>
          </a:xfrm>
          <a:prstGeom prst="rect">
            <a:avLst/>
          </a:prstGeom>
          <a:noFill/>
          <a:ln/>
        </p:spPr>
        <p:txBody>
          <a:bodyPr wrap="square" lIns="0" tIns="0" rIns="0" bIns="0" rtlCol="0" anchor="ctr"/>
          <a:lstStyle/>
          <a:p>
            <a:pPr indent="0" marL="0">
              <a:buNone/>
            </a:pPr>
            <a:r>
              <a:rPr lang="en-US" sz="1300" dirty="0">
                <a:solidFill>
                  <a:schemeClr val="tx2"/>
                </a:solidFill>
              </a:rPr>
              <a:t>Qualified directs</a:t>
            </a:r>
            <a:endParaRPr lang="en-US" sz="1300" dirty="0"/>
          </a:p>
        </p:txBody>
      </p:sp>
      <p:sp>
        <p:nvSpPr>
          <p:cNvPr id="35" name="Text 33"/>
          <p:cNvSpPr txBox="1"/>
          <p:nvPr/>
        </p:nvSpPr>
        <p:spPr>
          <a:xfrm>
            <a:off x="9915906" y="37033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30</a:t>
            </a:r>
            <a:endParaRPr lang="en-US" sz="1400" dirty="0"/>
          </a:p>
        </p:txBody>
      </p:sp>
      <p:sp>
        <p:nvSpPr>
          <p:cNvPr id="36" name="Text 34"/>
          <p:cNvSpPr txBox="1"/>
          <p:nvPr/>
        </p:nvSpPr>
        <p:spPr>
          <a:xfrm>
            <a:off x="8463077" y="4160520"/>
            <a:ext cx="1899864" cy="365760"/>
          </a:xfrm>
          <a:prstGeom prst="rect">
            <a:avLst/>
          </a:prstGeom>
          <a:noFill/>
          <a:ln/>
        </p:spPr>
        <p:txBody>
          <a:bodyPr wrap="square" lIns="0" tIns="0" rIns="0" bIns="0" rtlCol="0" anchor="ctr"/>
          <a:lstStyle/>
          <a:p>
            <a:pPr indent="0" marL="0">
              <a:buNone/>
            </a:pPr>
            <a:r>
              <a:rPr lang="en-US" sz="1300" dirty="0">
                <a:solidFill>
                  <a:schemeClr val="tx2"/>
                </a:solidFill>
              </a:rPr>
              <a:t>Team (Left + Right)</a:t>
            </a:r>
            <a:endParaRPr lang="en-US" sz="1300" dirty="0"/>
          </a:p>
        </p:txBody>
      </p:sp>
      <p:sp>
        <p:nvSpPr>
          <p:cNvPr id="37" name="Text 35"/>
          <p:cNvSpPr txBox="1"/>
          <p:nvPr/>
        </p:nvSpPr>
        <p:spPr>
          <a:xfrm>
            <a:off x="9915906" y="41605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1,500 + 1,500</a:t>
            </a:r>
            <a:endParaRPr lang="en-US" sz="1400" dirty="0"/>
          </a:p>
        </p:txBody>
      </p:sp>
      <p:sp>
        <p:nvSpPr>
          <p:cNvPr id="38" name="Text 36"/>
          <p:cNvSpPr txBox="1"/>
          <p:nvPr/>
        </p:nvSpPr>
        <p:spPr>
          <a:xfrm>
            <a:off x="8463077" y="4617720"/>
            <a:ext cx="1899864" cy="365760"/>
          </a:xfrm>
          <a:prstGeom prst="rect">
            <a:avLst/>
          </a:prstGeom>
          <a:noFill/>
          <a:ln/>
        </p:spPr>
        <p:txBody>
          <a:bodyPr wrap="square" lIns="0" tIns="0" rIns="0" bIns="0" rtlCol="0" anchor="ctr"/>
          <a:lstStyle/>
          <a:p>
            <a:pPr indent="0" marL="0">
              <a:buNone/>
            </a:pPr>
            <a:r>
              <a:rPr lang="en-US" sz="1300" dirty="0">
                <a:solidFill>
                  <a:schemeClr val="tx2"/>
                </a:solidFill>
              </a:rPr>
              <a:t>Total benefit</a:t>
            </a:r>
            <a:endParaRPr lang="en-US" sz="1300" dirty="0"/>
          </a:p>
        </p:txBody>
      </p:sp>
      <p:sp>
        <p:nvSpPr>
          <p:cNvPr id="39" name="Text 37"/>
          <p:cNvSpPr txBox="1"/>
          <p:nvPr/>
        </p:nvSpPr>
        <p:spPr>
          <a:xfrm>
            <a:off x="9915906" y="4617720"/>
            <a:ext cx="1452829" cy="365760"/>
          </a:xfrm>
          <a:prstGeom prst="rect">
            <a:avLst/>
          </a:prstGeom>
          <a:noFill/>
          <a:ln/>
        </p:spPr>
        <p:txBody>
          <a:bodyPr wrap="square" lIns="0" tIns="0" rIns="0" bIns="0" rtlCol="0" anchor="ctr"/>
          <a:lstStyle/>
          <a:p>
            <a:pPr algn="r" indent="0" marL="0">
              <a:buNone/>
            </a:pPr>
            <a:r>
              <a:rPr lang="en-US" sz="1400" b="1" dirty="0">
                <a:solidFill>
                  <a:schemeClr val="tx1"/>
                </a:solidFill>
              </a:rPr>
              <a:t>₹3,60,000</a:t>
            </a:r>
            <a:endParaRPr lang="en-US" sz="1400" dirty="0"/>
          </a:p>
        </p:txBody>
      </p:sp>
      <p:sp>
        <p:nvSpPr>
          <p:cNvPr id="40" name="Booster note band"/>
          <p:cNvSpPr/>
          <p:nvPr/>
        </p:nvSpPr>
        <p:spPr>
          <a:xfrm>
            <a:off x="548640" y="5440680"/>
            <a:ext cx="11094415" cy="685800"/>
          </a:xfrm>
          <a:prstGeom prst="roundRect">
            <a:avLst>
              <a:gd name="adj" fmla="val 16000"/>
            </a:avLst>
          </a:prstGeom>
          <a:solidFill>
            <a:schemeClr val="bg2"/>
          </a:solidFill>
          <a:ln/>
        </p:spPr>
      </p:sp>
      <p:sp>
        <p:nvSpPr>
          <p:cNvPr id="41" name="Text 39"/>
          <p:cNvSpPr txBox="1"/>
          <p:nvPr/>
        </p:nvSpPr>
        <p:spPr>
          <a:xfrm>
            <a:off x="822960" y="5440680"/>
            <a:ext cx="10545775" cy="685800"/>
          </a:xfrm>
          <a:prstGeom prst="rect">
            <a:avLst/>
          </a:prstGeom>
          <a:noFill/>
          <a:ln/>
        </p:spPr>
        <p:txBody>
          <a:bodyPr wrap="square" lIns="0" tIns="0" rIns="0" bIns="0" rtlCol="0" anchor="ctr"/>
          <a:lstStyle/>
          <a:p>
            <a:pPr indent="0" marL="0">
              <a:buNone/>
            </a:pPr>
            <a:r>
              <a:rPr lang="en-US" sz="1400" dirty="0">
                <a:solidFill>
                  <a:schemeClr val="tx1"/>
                </a:solidFill>
              </a:rPr>
              <a:t>Team counts everyone placed under you on each side — they don't need to be your directs. You can run more than one level at the same time.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Store Purchase Income</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When you or your team buy jewellery at a GoldWave store, you earn a % of the metal value.</a:t>
            </a:r>
            <a:endParaRPr lang="en-US" sz="1600" dirty="0"/>
          </a:p>
        </p:txBody>
      </p:sp>
      <p:sp>
        <p:nvSpPr>
          <p:cNvPr id="4" name="Self income card"/>
          <p:cNvSpPr/>
          <p:nvPr/>
        </p:nvSpPr>
        <p:spPr>
          <a:xfrm>
            <a:off x="548640" y="1691640"/>
            <a:ext cx="3657600" cy="2148840"/>
          </a:xfrm>
          <a:prstGeom prst="roundRect">
            <a:avLst>
              <a:gd name="adj" fmla="val 5106"/>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Self income icon circle"/>
          <p:cNvSpPr/>
          <p:nvPr/>
        </p:nvSpPr>
        <p:spPr>
          <a:xfrm>
            <a:off x="822960" y="1920240"/>
            <a:ext cx="685800" cy="685800"/>
          </a:xfrm>
          <a:prstGeom prst="ellipse">
            <a:avLst/>
          </a:prstGeom>
          <a:solidFill>
            <a:schemeClr val="accent5"/>
          </a:solidFill>
          <a:ln/>
        </p:spPr>
      </p:sp>
      <p:pic>
        <p:nvPicPr>
          <p:cNvPr id="6" name="Self income icon" descr="Self income">    </p:cNvPr>
          <p:cNvPicPr>
            <a:picLocks noChangeAspect="1"/>
          </p:cNvPicPr>
          <p:nvPr/>
        </p:nvPicPr>
        <p:blipFill>
          <a:blip r:embed="rId1"/>
          <a:stretch>
            <a:fillRect/>
          </a:stretch>
        </p:blipFill>
        <p:spPr>
          <a:xfrm>
            <a:off x="987552" y="2084832"/>
            <a:ext cx="356616" cy="356616"/>
          </a:xfrm>
          <a:prstGeom prst="rect">
            <a:avLst/>
          </a:prstGeom>
        </p:spPr>
      </p:pic>
      <p:sp>
        <p:nvSpPr>
          <p:cNvPr id="7" name="Text 4"/>
          <p:cNvSpPr txBox="1"/>
          <p:nvPr/>
        </p:nvSpPr>
        <p:spPr>
          <a:xfrm>
            <a:off x="1691640" y="1920240"/>
            <a:ext cx="2286000" cy="685800"/>
          </a:xfrm>
          <a:prstGeom prst="rect">
            <a:avLst/>
          </a:prstGeom>
          <a:noFill/>
          <a:ln/>
        </p:spPr>
        <p:txBody>
          <a:bodyPr wrap="square" lIns="0" tIns="0" rIns="0" bIns="0" rtlCol="0" anchor="ctr"/>
          <a:lstStyle/>
          <a:p>
            <a:pPr indent="0" marL="0">
              <a:buNone/>
            </a:pPr>
            <a:r>
              <a:rPr lang="en-US" sz="1800" b="1" dirty="0">
                <a:solidFill>
                  <a:schemeClr val="tx1"/>
                </a:solidFill>
              </a:rPr>
              <a:t>Your own purchase</a:t>
            </a:r>
            <a:endParaRPr lang="en-US" sz="1800" dirty="0"/>
          </a:p>
        </p:txBody>
      </p:sp>
      <p:sp>
        <p:nvSpPr>
          <p:cNvPr id="8" name="Text 5"/>
          <p:cNvSpPr txBox="1"/>
          <p:nvPr/>
        </p:nvSpPr>
        <p:spPr>
          <a:xfrm>
            <a:off x="822960" y="2834640"/>
            <a:ext cx="3108960" cy="731520"/>
          </a:xfrm>
          <a:prstGeom prst="rect">
            <a:avLst/>
          </a:prstGeom>
          <a:noFill/>
          <a:ln/>
        </p:spPr>
        <p:txBody>
          <a:bodyPr wrap="square" lIns="0" tIns="0" rIns="0" bIns="0" rtlCol="0" anchor="ctr"/>
          <a:lstStyle/>
          <a:p>
            <a:pPr indent="0" marL="0">
              <a:buNone/>
            </a:pPr>
            <a:r>
              <a:rPr lang="en-US" sz="3400" b="1" dirty="0">
                <a:solidFill>
                  <a:schemeClr val="accent6"/>
                </a:solidFill>
              </a:rPr>
              <a:t>5%</a:t>
            </a:r>
            <a:pPr indent="0" marL="0">
              <a:buNone/>
            </a:pPr>
            <a:r>
              <a:rPr lang="en-US" sz="1400" dirty="0">
                <a:solidFill>
                  <a:schemeClr val="tx2"/>
                </a:solidFill>
              </a:rPr>
              <a:t> Silver   </a:t>
            </a:r>
            <a:pPr indent="0" marL="0">
              <a:buNone/>
            </a:pPr>
            <a:r>
              <a:rPr lang="en-US" sz="3400" b="1" dirty="0">
                <a:solidFill>
                  <a:srgbClr val="B45309"/>
                </a:solidFill>
              </a:rPr>
              <a:t>2%</a:t>
            </a:r>
            <a:pPr indent="0" marL="0">
              <a:buNone/>
            </a:pPr>
            <a:r>
              <a:rPr lang="en-US" sz="1400" dirty="0">
                <a:solidFill>
                  <a:schemeClr val="tx2"/>
                </a:solidFill>
              </a:rPr>
              <a:t> Gold</a:t>
            </a:r>
            <a:endParaRPr lang="en-US" sz="3400" dirty="0"/>
          </a:p>
        </p:txBody>
      </p:sp>
      <p:sp>
        <p:nvSpPr>
          <p:cNvPr id="9" name="Unlock card"/>
          <p:cNvSpPr/>
          <p:nvPr/>
        </p:nvSpPr>
        <p:spPr>
          <a:xfrm>
            <a:off x="548640" y="4069080"/>
            <a:ext cx="3657600" cy="2057400"/>
          </a:xfrm>
          <a:prstGeom prst="roundRect">
            <a:avLst>
              <a:gd name="adj" fmla="val 5333"/>
            </a:avLst>
          </a:prstGeom>
          <a:solidFill>
            <a:schemeClr val="bg2"/>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0" name="Unlock icon circle"/>
          <p:cNvSpPr/>
          <p:nvPr/>
        </p:nvSpPr>
        <p:spPr>
          <a:xfrm>
            <a:off x="822960" y="4297680"/>
            <a:ext cx="685800" cy="685800"/>
          </a:xfrm>
          <a:prstGeom prst="ellipse">
            <a:avLst/>
          </a:prstGeom>
          <a:solidFill>
            <a:schemeClr val="accent1"/>
          </a:solidFill>
          <a:ln/>
        </p:spPr>
      </p:sp>
      <p:pic>
        <p:nvPicPr>
          <p:cNvPr id="11" name="Unlock icon" descr="Unlock">    </p:cNvPr>
          <p:cNvPicPr>
            <a:picLocks noChangeAspect="1"/>
          </p:cNvPicPr>
          <p:nvPr/>
        </p:nvPicPr>
        <p:blipFill>
          <a:blip r:embed="rId2"/>
          <a:stretch>
            <a:fillRect/>
          </a:stretch>
        </p:blipFill>
        <p:spPr>
          <a:xfrm>
            <a:off x="987552" y="4462272"/>
            <a:ext cx="356616" cy="356616"/>
          </a:xfrm>
          <a:prstGeom prst="rect">
            <a:avLst/>
          </a:prstGeom>
        </p:spPr>
      </p:pic>
      <p:sp>
        <p:nvSpPr>
          <p:cNvPr id="12" name="Text 8"/>
          <p:cNvSpPr txBox="1"/>
          <p:nvPr/>
        </p:nvSpPr>
        <p:spPr>
          <a:xfrm>
            <a:off x="1691640" y="4297680"/>
            <a:ext cx="2286000" cy="685800"/>
          </a:xfrm>
          <a:prstGeom prst="rect">
            <a:avLst/>
          </a:prstGeom>
          <a:noFill/>
          <a:ln/>
        </p:spPr>
        <p:txBody>
          <a:bodyPr wrap="square" lIns="0" tIns="0" rIns="0" bIns="0" rtlCol="0" anchor="ctr"/>
          <a:lstStyle/>
          <a:p>
            <a:pPr indent="0" marL="0">
              <a:buNone/>
            </a:pPr>
            <a:r>
              <a:rPr lang="en-US" sz="1600" b="1" dirty="0">
                <a:solidFill>
                  <a:schemeClr val="tx1"/>
                </a:solidFill>
              </a:rPr>
              <a:t>Team income unlocks at 10</a:t>
            </a:r>
            <a:endParaRPr lang="en-US" sz="1600" dirty="0"/>
          </a:p>
        </p:txBody>
      </p:sp>
      <p:sp>
        <p:nvSpPr>
          <p:cNvPr id="13" name="Text 9"/>
          <p:cNvSpPr txBox="1"/>
          <p:nvPr/>
        </p:nvSpPr>
        <p:spPr>
          <a:xfrm>
            <a:off x="822960" y="5074920"/>
            <a:ext cx="3108960" cy="960120"/>
          </a:xfrm>
          <a:prstGeom prst="rect">
            <a:avLst/>
          </a:prstGeom>
          <a:noFill/>
          <a:ln/>
        </p:spPr>
        <p:txBody>
          <a:bodyPr wrap="square" lIns="0" tIns="0" rIns="0" bIns="0" rtlCol="0" anchor="t"/>
          <a:lstStyle/>
          <a:p>
            <a:pPr indent="0" marL="0">
              <a:buNone/>
            </a:pPr>
            <a:r>
              <a:rPr lang="en-US" sz="1300" dirty="0">
                <a:solidFill>
                  <a:schemeClr val="tx2"/>
                </a:solidFill>
              </a:rPr>
              <a:t>Your team's purchases pay you once you have 10 qualified directs. Once unlocked, it stays unlocked for life.</a:t>
            </a:r>
            <a:endParaRPr lang="en-US" sz="1300" dirty="0"/>
          </a:p>
        </p:txBody>
      </p:sp>
      <p:sp>
        <p:nvSpPr>
          <p:cNvPr id="14" name="Text 10"/>
          <p:cNvSpPr txBox="1"/>
          <p:nvPr/>
        </p:nvSpPr>
        <p:spPr>
          <a:xfrm>
            <a:off x="4572000" y="1691640"/>
            <a:ext cx="7040880" cy="365760"/>
          </a:xfrm>
          <a:prstGeom prst="rect">
            <a:avLst/>
          </a:prstGeom>
          <a:noFill/>
          <a:ln/>
        </p:spPr>
        <p:txBody>
          <a:bodyPr wrap="square" lIns="0" tIns="0" rIns="0" bIns="0" rtlCol="0" anchor="t"/>
          <a:lstStyle/>
          <a:p>
            <a:pPr indent="0" marL="0">
              <a:buNone/>
            </a:pPr>
            <a:r>
              <a:rPr lang="en-US" sz="1600" b="1" dirty="0">
                <a:solidFill>
                  <a:schemeClr val="tx1"/>
                </a:solidFill>
              </a:rPr>
              <a:t>Your team's purchases (sponsor chain)</a:t>
            </a:r>
            <a:endParaRPr lang="en-US" sz="1600" dirty="0"/>
          </a:p>
        </p:txBody>
      </p:sp>
      <p:graphicFrame>
        <p:nvGraphicFramePr>
          <p:cNvPr id="13" name="Store purchase income table"/>
          <p:cNvGraphicFramePr>
            <a:graphicFrameLocks noGrp="1"/>
          </p:cNvGraphicFramePr>
          <p:nvPr>
            <p:extLst>
              <p:ext uri="{D42A27DB-BD31-4B8C-83A1-F6EECF244321}">
                <p14:modId xmlns:p14="http://schemas.microsoft.com/office/powerpoint/2010/main" val="1579011935"/>
              </p:ext>
            </p:extLst>
          </p:nvPr>
        </p:nvGraphicFramePr>
        <p:xfrm>
          <a:off x="4572000" y="2148840"/>
          <a:ext cx="7068312" cy="914400"/>
        </p:xfrm>
        <a:graphic>
          <a:graphicData uri="http://schemas.openxmlformats.org/drawingml/2006/table">
            <a:tbl>
              <a:tblPr/>
              <a:tblGrid>
                <a:gridCol w="2679192"/>
                <a:gridCol w="2194560"/>
                <a:gridCol w="2194560"/>
              </a:tblGrid>
              <a:tr h="502920">
                <a:tc>
                  <a:txBody>
                    <a:bodyPr/>
                    <a:lstStyle/>
                    <a:p>
                      <a:pPr algn="l" indent="0" marL="0">
                        <a:buNone/>
                      </a:pPr>
                      <a:r>
                        <a:rPr lang="en-US" sz="1500" b="1" dirty="0">
                          <a:solidFill>
                            <a:schemeClr val="bg1"/>
                          </a:solidFill>
                        </a:rPr>
                        <a:t>Level</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rPr>
                        <a:t>Silver</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rPr>
                        <a:t>Gold</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solidFill>
                  </a:tcPr>
                </a:tc>
              </a:tr>
              <a:tr h="502920">
                <a:tc>
                  <a:txBody>
                    <a:bodyPr/>
                    <a:lstStyle/>
                    <a:p>
                      <a:pPr algn="l" indent="0" marL="0">
                        <a:buNone/>
                      </a:pPr>
                      <a:r>
                        <a:rPr lang="en-US" sz="1500" dirty="0">
                          <a:solidFill>
                            <a:schemeClr val="tx1"/>
                          </a:solidFill>
                        </a:rPr>
                        <a:t>Level 1</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2%</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502920">
                <a:tc>
                  <a:txBody>
                    <a:bodyPr/>
                    <a:lstStyle/>
                    <a:p>
                      <a:pPr algn="l" indent="0" marL="0">
                        <a:buNone/>
                      </a:pPr>
                      <a:r>
                        <a:rPr lang="en-US" sz="1500" dirty="0">
                          <a:solidFill>
                            <a:schemeClr val="tx1"/>
                          </a:solidFill>
                        </a:rPr>
                        <a:t>Level 2</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r h="502920">
                <a:tc>
                  <a:txBody>
                    <a:bodyPr/>
                    <a:lstStyle/>
                    <a:p>
                      <a:pPr algn="l" indent="0" marL="0">
                        <a:buNone/>
                      </a:pPr>
                      <a:r>
                        <a:rPr lang="en-US" sz="1500" dirty="0">
                          <a:solidFill>
                            <a:schemeClr val="tx1"/>
                          </a:solidFill>
                        </a:rPr>
                        <a:t>Levels 3–6</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 each</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0.5% each</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502920">
                <a:tc>
                  <a:txBody>
                    <a:bodyPr/>
                    <a:lstStyle/>
                    <a:p>
                      <a:pPr algn="l" indent="0" marL="0">
                        <a:buNone/>
                      </a:pPr>
                      <a:r>
                        <a:rPr lang="en-US" sz="1500" dirty="0">
                          <a:solidFill>
                            <a:schemeClr val="tx1"/>
                          </a:solidFill>
                        </a:rPr>
                        <a:t>Levels 7–12</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0.5% each</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0.25% each</a:t>
                      </a:r>
                      <a:endParaRPr lang="en-US" sz="1500" dirty="0"/>
                    </a:p>
                  </a:txBody>
                  <a:tcPr marL="137160" marR="13716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2"/>
                    </a:solidFill>
                  </a:tcPr>
                </a:tc>
              </a:tr>
            </a:tbl>
          </a:graphicData>
        </a:graphic>
      </p:graphicFrame>
      <p:sp>
        <p:nvSpPr>
          <p:cNvPr id="16" name="Text 11"/>
          <p:cNvSpPr txBox="1"/>
          <p:nvPr/>
        </p:nvSpPr>
        <p:spPr>
          <a:xfrm>
            <a:off x="4572000" y="4754880"/>
            <a:ext cx="7040880" cy="365760"/>
          </a:xfrm>
          <a:prstGeom prst="rect">
            <a:avLst/>
          </a:prstGeom>
          <a:noFill/>
          <a:ln/>
        </p:spPr>
        <p:txBody>
          <a:bodyPr wrap="square" lIns="0" tIns="0" rIns="0" bIns="0" rtlCol="0" anchor="t"/>
          <a:lstStyle/>
          <a:p>
            <a:pPr indent="0" marL="0">
              <a:buNone/>
            </a:pPr>
            <a:r>
              <a:rPr lang="en-US" sz="1300" i="1" dirty="0">
                <a:solidFill>
                  <a:schemeClr val="tx2"/>
                </a:solidFill>
              </a:rPr>
              <a:t>Store income is calculated on the metal value of the sale (not on making charges or GST).</a:t>
            </a:r>
            <a:endParaRPr lang="en-US" sz="1300" dirty="0"/>
          </a:p>
        </p:txBody>
      </p:sp>
      <p:sp>
        <p:nvSpPr>
          <p:cNvPr id="17" name="Store example band"/>
          <p:cNvSpPr/>
          <p:nvPr/>
        </p:nvSpPr>
        <p:spPr>
          <a:xfrm>
            <a:off x="4572000" y="5257800"/>
            <a:ext cx="7068312" cy="868680"/>
          </a:xfrm>
          <a:prstGeom prst="roundRect">
            <a:avLst>
              <a:gd name="adj" fmla="val 12632"/>
            </a:avLst>
          </a:prstGeom>
          <a:solidFill>
            <a:schemeClr val="bg2"/>
          </a:solidFill>
          <a:ln/>
        </p:spPr>
      </p:sp>
      <p:sp>
        <p:nvSpPr>
          <p:cNvPr id="18" name="Text 13"/>
          <p:cNvSpPr txBox="1"/>
          <p:nvPr/>
        </p:nvSpPr>
        <p:spPr>
          <a:xfrm>
            <a:off x="4846320" y="5257800"/>
            <a:ext cx="6519672" cy="868680"/>
          </a:xfrm>
          <a:prstGeom prst="rect">
            <a:avLst/>
          </a:prstGeom>
          <a:noFill/>
          <a:ln/>
        </p:spPr>
        <p:txBody>
          <a:bodyPr wrap="square" lIns="0" tIns="0" rIns="0" bIns="0" rtlCol="0" anchor="ctr"/>
          <a:lstStyle/>
          <a:p>
            <a:pPr indent="0" marL="0">
              <a:buNone/>
            </a:pPr>
            <a:r>
              <a:rPr lang="en-US" sz="1350" b="1" dirty="0">
                <a:solidFill>
                  <a:schemeClr val="accent1"/>
                </a:solidFill>
              </a:rPr>
              <a:t>Example: </a:t>
            </a:r>
            <a:pPr indent="0" marL="0">
              <a:buNone/>
            </a:pPr>
            <a:r>
              <a:rPr lang="en-US" sz="1350" dirty="0">
                <a:solidFill>
                  <a:schemeClr val="tx1"/>
                </a:solidFill>
              </a:rPr>
              <a:t>your direct buys silver jewellery with a metal value of ₹10,000 → they earn 5% = ₹500, and you earn 2% = ₹200 (Level 1, once unlocked).</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Wallet &amp; payouts</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All your rewards land in your GoldWave wallet. You request a payout; the company pays it.</a:t>
            </a:r>
            <a:endParaRPr lang="en-US" sz="1600" dirty="0"/>
          </a:p>
        </p:txBody>
      </p:sp>
      <p:sp>
        <p:nvSpPr>
          <p:cNvPr id="4" name="Rewards card"/>
          <p:cNvSpPr/>
          <p:nvPr/>
        </p:nvSpPr>
        <p:spPr>
          <a:xfrm>
            <a:off x="548640" y="1737360"/>
            <a:ext cx="2377440"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Rewards icon circle"/>
          <p:cNvSpPr/>
          <p:nvPr/>
        </p:nvSpPr>
        <p:spPr>
          <a:xfrm>
            <a:off x="1348740" y="1965960"/>
            <a:ext cx="777240" cy="777240"/>
          </a:xfrm>
          <a:prstGeom prst="ellipse">
            <a:avLst/>
          </a:prstGeom>
          <a:solidFill>
            <a:schemeClr val="accent1"/>
          </a:solidFill>
          <a:ln/>
        </p:spPr>
      </p:sp>
      <p:pic>
        <p:nvPicPr>
          <p:cNvPr id="6" name="Rewards icon" descr="Rewards">    </p:cNvPr>
          <p:cNvPicPr>
            <a:picLocks noChangeAspect="1"/>
          </p:cNvPicPr>
          <p:nvPr/>
        </p:nvPicPr>
        <p:blipFill>
          <a:blip r:embed="rId1"/>
          <a:stretch>
            <a:fillRect/>
          </a:stretch>
        </p:blipFill>
        <p:spPr>
          <a:xfrm>
            <a:off x="1535278" y="2152498"/>
            <a:ext cx="404165" cy="404165"/>
          </a:xfrm>
          <a:prstGeom prst="rect">
            <a:avLst/>
          </a:prstGeom>
        </p:spPr>
      </p:pic>
      <p:sp>
        <p:nvSpPr>
          <p:cNvPr id="7" name="Text 4"/>
          <p:cNvSpPr txBox="1"/>
          <p:nvPr/>
        </p:nvSpPr>
        <p:spPr>
          <a:xfrm>
            <a:off x="731520" y="2834640"/>
            <a:ext cx="2011680" cy="365760"/>
          </a:xfrm>
          <a:prstGeom prst="rect">
            <a:avLst/>
          </a:prstGeom>
          <a:noFill/>
          <a:ln/>
        </p:spPr>
        <p:txBody>
          <a:bodyPr wrap="square" lIns="0" tIns="0" rIns="0" bIns="0" rtlCol="0" anchor="t"/>
          <a:lstStyle/>
          <a:p>
            <a:pPr algn="ctr" indent="0" marL="0">
              <a:buNone/>
            </a:pPr>
            <a:r>
              <a:rPr lang="en-US" sz="1700" b="1" dirty="0">
                <a:solidFill>
                  <a:schemeClr val="tx1"/>
                </a:solidFill>
              </a:rPr>
              <a:t>Rewards</a:t>
            </a:r>
            <a:endParaRPr lang="en-US" sz="1700" dirty="0"/>
          </a:p>
        </p:txBody>
      </p:sp>
      <p:sp>
        <p:nvSpPr>
          <p:cNvPr id="8" name="Text 5"/>
          <p:cNvSpPr txBox="1"/>
          <p:nvPr/>
        </p:nvSpPr>
        <p:spPr>
          <a:xfrm>
            <a:off x="731520" y="3200400"/>
            <a:ext cx="2011680" cy="594360"/>
          </a:xfrm>
          <a:prstGeom prst="rect">
            <a:avLst/>
          </a:prstGeom>
          <a:noFill/>
          <a:ln/>
        </p:spPr>
        <p:txBody>
          <a:bodyPr wrap="square" lIns="0" tIns="0" rIns="0" bIns="0" rtlCol="0" anchor="t"/>
          <a:lstStyle/>
          <a:p>
            <a:pPr algn="ctr" indent="0" marL="0">
              <a:buNone/>
            </a:pPr>
            <a:r>
              <a:rPr lang="en-US" sz="1250" dirty="0">
                <a:solidFill>
                  <a:schemeClr val="tx2"/>
                </a:solidFill>
              </a:rPr>
              <a:t>Level, Pair, Draw, Booster and store income</a:t>
            </a:r>
            <a:endParaRPr lang="en-US" sz="1250" dirty="0"/>
          </a:p>
        </p:txBody>
      </p:sp>
      <p:sp>
        <p:nvSpPr>
          <p:cNvPr id="9" name="Flow arrow 1"/>
          <p:cNvSpPr/>
          <p:nvPr/>
        </p:nvSpPr>
        <p:spPr>
          <a:xfrm>
            <a:off x="2989021" y="2651760"/>
            <a:ext cx="402336" cy="310896"/>
          </a:xfrm>
          <a:prstGeom prst="rightArrow">
            <a:avLst/>
          </a:prstGeom>
          <a:solidFill>
            <a:srgbClr val="CBD5E1"/>
          </a:solidFill>
          <a:ln/>
        </p:spPr>
      </p:sp>
      <p:sp>
        <p:nvSpPr>
          <p:cNvPr id="10" name="Wallet card"/>
          <p:cNvSpPr/>
          <p:nvPr/>
        </p:nvSpPr>
        <p:spPr>
          <a:xfrm>
            <a:off x="3454298" y="1737360"/>
            <a:ext cx="2377440"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1" name="Wallet icon circle"/>
          <p:cNvSpPr/>
          <p:nvPr/>
        </p:nvSpPr>
        <p:spPr>
          <a:xfrm>
            <a:off x="4254398" y="1965960"/>
            <a:ext cx="777240" cy="777240"/>
          </a:xfrm>
          <a:prstGeom prst="ellipse">
            <a:avLst/>
          </a:prstGeom>
          <a:solidFill>
            <a:schemeClr val="accent6"/>
          </a:solidFill>
          <a:ln/>
        </p:spPr>
      </p:sp>
      <p:pic>
        <p:nvPicPr>
          <p:cNvPr id="12" name="Wallet icon" descr="Wallet">    </p:cNvPr>
          <p:cNvPicPr>
            <a:picLocks noChangeAspect="1"/>
          </p:cNvPicPr>
          <p:nvPr/>
        </p:nvPicPr>
        <p:blipFill>
          <a:blip r:embed="rId2"/>
          <a:stretch>
            <a:fillRect/>
          </a:stretch>
        </p:blipFill>
        <p:spPr>
          <a:xfrm>
            <a:off x="4440936" y="2152498"/>
            <a:ext cx="404165" cy="404165"/>
          </a:xfrm>
          <a:prstGeom prst="rect">
            <a:avLst/>
          </a:prstGeom>
        </p:spPr>
      </p:pic>
      <p:sp>
        <p:nvSpPr>
          <p:cNvPr id="13" name="Text 9"/>
          <p:cNvSpPr txBox="1"/>
          <p:nvPr/>
        </p:nvSpPr>
        <p:spPr>
          <a:xfrm>
            <a:off x="3637178" y="2834640"/>
            <a:ext cx="2011680" cy="365760"/>
          </a:xfrm>
          <a:prstGeom prst="rect">
            <a:avLst/>
          </a:prstGeom>
          <a:noFill/>
          <a:ln/>
        </p:spPr>
        <p:txBody>
          <a:bodyPr wrap="square" lIns="0" tIns="0" rIns="0" bIns="0" rtlCol="0" anchor="t"/>
          <a:lstStyle/>
          <a:p>
            <a:pPr algn="ctr" indent="0" marL="0">
              <a:buNone/>
            </a:pPr>
            <a:r>
              <a:rPr lang="en-US" sz="1700" b="1" dirty="0">
                <a:solidFill>
                  <a:schemeClr val="tx1"/>
                </a:solidFill>
              </a:rPr>
              <a:t>Wallet</a:t>
            </a:r>
            <a:endParaRPr lang="en-US" sz="1700" dirty="0"/>
          </a:p>
        </p:txBody>
      </p:sp>
      <p:sp>
        <p:nvSpPr>
          <p:cNvPr id="14" name="Text 10"/>
          <p:cNvSpPr txBox="1"/>
          <p:nvPr/>
        </p:nvSpPr>
        <p:spPr>
          <a:xfrm>
            <a:off x="3637178" y="3200400"/>
            <a:ext cx="2011680" cy="594360"/>
          </a:xfrm>
          <a:prstGeom prst="rect">
            <a:avLst/>
          </a:prstGeom>
          <a:noFill/>
          <a:ln/>
        </p:spPr>
        <p:txBody>
          <a:bodyPr wrap="square" lIns="0" tIns="0" rIns="0" bIns="0" rtlCol="0" anchor="t"/>
          <a:lstStyle/>
          <a:p>
            <a:pPr algn="ctr" indent="0" marL="0">
              <a:buNone/>
            </a:pPr>
            <a:r>
              <a:rPr lang="en-US" sz="1250" dirty="0">
                <a:solidFill>
                  <a:schemeClr val="tx2"/>
                </a:solidFill>
              </a:rPr>
              <a:t>See every credit in your member portal</a:t>
            </a:r>
            <a:endParaRPr lang="en-US" sz="1250" dirty="0"/>
          </a:p>
        </p:txBody>
      </p:sp>
      <p:sp>
        <p:nvSpPr>
          <p:cNvPr id="15" name="Flow arrow 2"/>
          <p:cNvSpPr/>
          <p:nvPr/>
        </p:nvSpPr>
        <p:spPr>
          <a:xfrm>
            <a:off x="5894680" y="2651760"/>
            <a:ext cx="402336" cy="310896"/>
          </a:xfrm>
          <a:prstGeom prst="rightArrow">
            <a:avLst/>
          </a:prstGeom>
          <a:solidFill>
            <a:srgbClr val="CBD5E1"/>
          </a:solidFill>
          <a:ln/>
        </p:spPr>
      </p:sp>
      <p:sp>
        <p:nvSpPr>
          <p:cNvPr id="16" name="Request payout card"/>
          <p:cNvSpPr/>
          <p:nvPr/>
        </p:nvSpPr>
        <p:spPr>
          <a:xfrm>
            <a:off x="6359957" y="1737360"/>
            <a:ext cx="2377440"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7" name="Request payout icon circle"/>
          <p:cNvSpPr/>
          <p:nvPr/>
        </p:nvSpPr>
        <p:spPr>
          <a:xfrm>
            <a:off x="7160057" y="1965960"/>
            <a:ext cx="777240" cy="777240"/>
          </a:xfrm>
          <a:prstGeom prst="ellipse">
            <a:avLst/>
          </a:prstGeom>
          <a:solidFill>
            <a:schemeClr val="accent4"/>
          </a:solidFill>
          <a:ln/>
        </p:spPr>
      </p:sp>
      <p:pic>
        <p:nvPicPr>
          <p:cNvPr id="18" name="Request payout icon" descr="Request payout">    </p:cNvPr>
          <p:cNvPicPr>
            <a:picLocks noChangeAspect="1"/>
          </p:cNvPicPr>
          <p:nvPr/>
        </p:nvPicPr>
        <p:blipFill>
          <a:blip r:embed="rId3"/>
          <a:stretch>
            <a:fillRect/>
          </a:stretch>
        </p:blipFill>
        <p:spPr>
          <a:xfrm>
            <a:off x="7346594" y="2152498"/>
            <a:ext cx="404165" cy="404165"/>
          </a:xfrm>
          <a:prstGeom prst="rect">
            <a:avLst/>
          </a:prstGeom>
        </p:spPr>
      </p:pic>
      <p:sp>
        <p:nvSpPr>
          <p:cNvPr id="19" name="Text 14"/>
          <p:cNvSpPr txBox="1"/>
          <p:nvPr/>
        </p:nvSpPr>
        <p:spPr>
          <a:xfrm>
            <a:off x="6542837" y="2834640"/>
            <a:ext cx="2011680" cy="365760"/>
          </a:xfrm>
          <a:prstGeom prst="rect">
            <a:avLst/>
          </a:prstGeom>
          <a:noFill/>
          <a:ln/>
        </p:spPr>
        <p:txBody>
          <a:bodyPr wrap="square" lIns="0" tIns="0" rIns="0" bIns="0" rtlCol="0" anchor="t"/>
          <a:lstStyle/>
          <a:p>
            <a:pPr algn="ctr" indent="0" marL="0">
              <a:buNone/>
            </a:pPr>
            <a:r>
              <a:rPr lang="en-US" sz="1700" b="1" dirty="0">
                <a:solidFill>
                  <a:schemeClr val="tx1"/>
                </a:solidFill>
              </a:rPr>
              <a:t>Request payout</a:t>
            </a:r>
            <a:endParaRPr lang="en-US" sz="1700" dirty="0"/>
          </a:p>
        </p:txBody>
      </p:sp>
      <p:sp>
        <p:nvSpPr>
          <p:cNvPr id="20" name="Text 15"/>
          <p:cNvSpPr txBox="1"/>
          <p:nvPr/>
        </p:nvSpPr>
        <p:spPr>
          <a:xfrm>
            <a:off x="6542837" y="3200400"/>
            <a:ext cx="2011680" cy="594360"/>
          </a:xfrm>
          <a:prstGeom prst="rect">
            <a:avLst/>
          </a:prstGeom>
          <a:noFill/>
          <a:ln/>
        </p:spPr>
        <p:txBody>
          <a:bodyPr wrap="square" lIns="0" tIns="0" rIns="0" bIns="0" rtlCol="0" anchor="t"/>
          <a:lstStyle/>
          <a:p>
            <a:pPr algn="ctr" indent="0" marL="0">
              <a:buNone/>
            </a:pPr>
            <a:r>
              <a:rPr lang="en-US" sz="1250" dirty="0">
                <a:solidFill>
                  <a:schemeClr val="tx2"/>
                </a:solidFill>
              </a:rPr>
              <a:t>Minimum ₹500</a:t>
            </a:r>
            <a:endParaRPr lang="en-US" sz="1250" dirty="0"/>
          </a:p>
        </p:txBody>
      </p:sp>
      <p:sp>
        <p:nvSpPr>
          <p:cNvPr id="21" name="Flow arrow 3"/>
          <p:cNvSpPr/>
          <p:nvPr/>
        </p:nvSpPr>
        <p:spPr>
          <a:xfrm>
            <a:off x="8800338" y="2651760"/>
            <a:ext cx="402336" cy="310896"/>
          </a:xfrm>
          <a:prstGeom prst="rightArrow">
            <a:avLst/>
          </a:prstGeom>
          <a:solidFill>
            <a:srgbClr val="CBD5E1"/>
          </a:solidFill>
          <a:ln/>
        </p:spPr>
      </p:sp>
      <p:sp>
        <p:nvSpPr>
          <p:cNvPr id="22" name="Company pays card"/>
          <p:cNvSpPr/>
          <p:nvPr/>
        </p:nvSpPr>
        <p:spPr>
          <a:xfrm>
            <a:off x="9265615" y="1737360"/>
            <a:ext cx="2377440" cy="2103120"/>
          </a:xfrm>
          <a:prstGeom prst="roundRect">
            <a:avLst>
              <a:gd name="adj" fmla="val 5217"/>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3" name="Company pays icon circle"/>
          <p:cNvSpPr/>
          <p:nvPr/>
        </p:nvSpPr>
        <p:spPr>
          <a:xfrm>
            <a:off x="10065715" y="1965960"/>
            <a:ext cx="777240" cy="777240"/>
          </a:xfrm>
          <a:prstGeom prst="ellipse">
            <a:avLst/>
          </a:prstGeom>
          <a:solidFill>
            <a:schemeClr val="accent5"/>
          </a:solidFill>
          <a:ln/>
        </p:spPr>
      </p:sp>
      <p:pic>
        <p:nvPicPr>
          <p:cNvPr id="24" name="Company pays icon" descr="Company pays">    </p:cNvPr>
          <p:cNvPicPr>
            <a:picLocks noChangeAspect="1"/>
          </p:cNvPicPr>
          <p:nvPr/>
        </p:nvPicPr>
        <p:blipFill>
          <a:blip r:embed="rId4"/>
          <a:stretch>
            <a:fillRect/>
          </a:stretch>
        </p:blipFill>
        <p:spPr>
          <a:xfrm>
            <a:off x="10252253" y="2152498"/>
            <a:ext cx="404165" cy="404165"/>
          </a:xfrm>
          <a:prstGeom prst="rect">
            <a:avLst/>
          </a:prstGeom>
        </p:spPr>
      </p:pic>
      <p:sp>
        <p:nvSpPr>
          <p:cNvPr id="25" name="Text 19"/>
          <p:cNvSpPr txBox="1"/>
          <p:nvPr/>
        </p:nvSpPr>
        <p:spPr>
          <a:xfrm>
            <a:off x="9448495" y="2834640"/>
            <a:ext cx="2011680" cy="365760"/>
          </a:xfrm>
          <a:prstGeom prst="rect">
            <a:avLst/>
          </a:prstGeom>
          <a:noFill/>
          <a:ln/>
        </p:spPr>
        <p:txBody>
          <a:bodyPr wrap="square" lIns="0" tIns="0" rIns="0" bIns="0" rtlCol="0" anchor="t"/>
          <a:lstStyle/>
          <a:p>
            <a:pPr algn="ctr" indent="0" marL="0">
              <a:buNone/>
            </a:pPr>
            <a:r>
              <a:rPr lang="en-US" sz="1700" b="1" dirty="0">
                <a:solidFill>
                  <a:schemeClr val="tx1"/>
                </a:solidFill>
              </a:rPr>
              <a:t>Company pays</a:t>
            </a:r>
            <a:endParaRPr lang="en-US" sz="1700" dirty="0"/>
          </a:p>
        </p:txBody>
      </p:sp>
      <p:sp>
        <p:nvSpPr>
          <p:cNvPr id="26" name="Text 20"/>
          <p:cNvSpPr txBox="1"/>
          <p:nvPr/>
        </p:nvSpPr>
        <p:spPr>
          <a:xfrm>
            <a:off x="9448495" y="3200400"/>
            <a:ext cx="2011680" cy="594360"/>
          </a:xfrm>
          <a:prstGeom prst="rect">
            <a:avLst/>
          </a:prstGeom>
          <a:noFill/>
          <a:ln/>
        </p:spPr>
        <p:txBody>
          <a:bodyPr wrap="square" lIns="0" tIns="0" rIns="0" bIns="0" rtlCol="0" anchor="t"/>
          <a:lstStyle/>
          <a:p>
            <a:pPr algn="ctr" indent="0" marL="0">
              <a:buNone/>
            </a:pPr>
            <a:r>
              <a:rPr lang="en-US" sz="1250" dirty="0">
                <a:solidFill>
                  <a:schemeClr val="tx2"/>
                </a:solidFill>
              </a:rPr>
              <a:t>Monthly, by bank transfer, UPI or cheque</a:t>
            </a:r>
            <a:endParaRPr lang="en-US" sz="1250" dirty="0"/>
          </a:p>
        </p:txBody>
      </p:sp>
      <p:sp>
        <p:nvSpPr>
          <p:cNvPr id="27" name="Bank details verified card"/>
          <p:cNvSpPr/>
          <p:nvPr/>
        </p:nvSpPr>
        <p:spPr>
          <a:xfrm>
            <a:off x="548640" y="4160520"/>
            <a:ext cx="3515258" cy="1965960"/>
          </a:xfrm>
          <a:prstGeom prst="roundRect">
            <a:avLst>
              <a:gd name="adj" fmla="val 5581"/>
            </a:avLst>
          </a:prstGeom>
          <a:solidFill>
            <a:schemeClr val="bg2"/>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8" name="Bank details verified icon circle"/>
          <p:cNvSpPr/>
          <p:nvPr/>
        </p:nvSpPr>
        <p:spPr>
          <a:xfrm>
            <a:off x="822960" y="4389120"/>
            <a:ext cx="594360" cy="594360"/>
          </a:xfrm>
          <a:prstGeom prst="ellipse">
            <a:avLst/>
          </a:prstGeom>
          <a:solidFill>
            <a:schemeClr val="accent4"/>
          </a:solidFill>
          <a:ln/>
        </p:spPr>
      </p:sp>
      <p:pic>
        <p:nvPicPr>
          <p:cNvPr id="29" name="Bank details verified icon" descr="Bank details verified">    </p:cNvPr>
          <p:cNvPicPr>
            <a:picLocks noChangeAspect="1"/>
          </p:cNvPicPr>
          <p:nvPr/>
        </p:nvPicPr>
        <p:blipFill>
          <a:blip r:embed="rId5"/>
          <a:stretch>
            <a:fillRect/>
          </a:stretch>
        </p:blipFill>
        <p:spPr>
          <a:xfrm>
            <a:off x="965606" y="4531766"/>
            <a:ext cx="309067" cy="309067"/>
          </a:xfrm>
          <a:prstGeom prst="rect">
            <a:avLst/>
          </a:prstGeom>
        </p:spPr>
      </p:pic>
      <p:sp>
        <p:nvSpPr>
          <p:cNvPr id="30" name="Text 23"/>
          <p:cNvSpPr txBox="1"/>
          <p:nvPr/>
        </p:nvSpPr>
        <p:spPr>
          <a:xfrm>
            <a:off x="1554480" y="4389120"/>
            <a:ext cx="2326538" cy="594360"/>
          </a:xfrm>
          <a:prstGeom prst="rect">
            <a:avLst/>
          </a:prstGeom>
          <a:noFill/>
          <a:ln/>
        </p:spPr>
        <p:txBody>
          <a:bodyPr wrap="square" lIns="0" tIns="0" rIns="0" bIns="0" rtlCol="0" anchor="ctr"/>
          <a:lstStyle/>
          <a:p>
            <a:pPr indent="0" marL="0">
              <a:buNone/>
            </a:pPr>
            <a:r>
              <a:rPr lang="en-US" sz="1500" b="1" dirty="0">
                <a:solidFill>
                  <a:schemeClr val="tx1"/>
                </a:solidFill>
              </a:rPr>
              <a:t>Bank details verified</a:t>
            </a:r>
            <a:endParaRPr lang="en-US" sz="1500" dirty="0"/>
          </a:p>
        </p:txBody>
      </p:sp>
      <p:sp>
        <p:nvSpPr>
          <p:cNvPr id="31" name="Text 24"/>
          <p:cNvSpPr txBox="1"/>
          <p:nvPr/>
        </p:nvSpPr>
        <p:spPr>
          <a:xfrm>
            <a:off x="822960" y="5120640"/>
            <a:ext cx="2966618" cy="914400"/>
          </a:xfrm>
          <a:prstGeom prst="rect">
            <a:avLst/>
          </a:prstGeom>
          <a:noFill/>
          <a:ln/>
        </p:spPr>
        <p:txBody>
          <a:bodyPr wrap="square" lIns="0" tIns="0" rIns="0" bIns="0" rtlCol="0" anchor="t"/>
          <a:lstStyle/>
          <a:p>
            <a:pPr indent="0" marL="0">
              <a:buNone/>
            </a:pPr>
            <a:r>
              <a:rPr lang="en-US" sz="1300" dirty="0">
                <a:solidFill>
                  <a:schemeClr val="tx2"/>
                </a:solidFill>
              </a:rPr>
              <a:t>Add your bank / UPI details in your profile. The company verifies them before paying.</a:t>
            </a:r>
            <a:endParaRPr lang="en-US" sz="1300" dirty="0"/>
          </a:p>
        </p:txBody>
      </p:sp>
      <p:sp>
        <p:nvSpPr>
          <p:cNvPr id="32" name="TDS and fees card"/>
          <p:cNvSpPr/>
          <p:nvPr/>
        </p:nvSpPr>
        <p:spPr>
          <a:xfrm>
            <a:off x="4338218" y="4160520"/>
            <a:ext cx="3515258" cy="1965960"/>
          </a:xfrm>
          <a:prstGeom prst="roundRect">
            <a:avLst>
              <a:gd name="adj" fmla="val 5581"/>
            </a:avLst>
          </a:prstGeom>
          <a:solidFill>
            <a:schemeClr val="bg2"/>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33" name="TDS and fees icon circle"/>
          <p:cNvSpPr/>
          <p:nvPr/>
        </p:nvSpPr>
        <p:spPr>
          <a:xfrm>
            <a:off x="4612538" y="4389120"/>
            <a:ext cx="594360" cy="594360"/>
          </a:xfrm>
          <a:prstGeom prst="ellipse">
            <a:avLst/>
          </a:prstGeom>
          <a:solidFill>
            <a:schemeClr val="accent3"/>
          </a:solidFill>
          <a:ln/>
        </p:spPr>
      </p:sp>
      <p:pic>
        <p:nvPicPr>
          <p:cNvPr id="34" name="TDS and fees icon" descr="TDS and fees">    </p:cNvPr>
          <p:cNvPicPr>
            <a:picLocks noChangeAspect="1"/>
          </p:cNvPicPr>
          <p:nvPr/>
        </p:nvPicPr>
        <p:blipFill>
          <a:blip r:embed="rId6"/>
          <a:stretch>
            <a:fillRect/>
          </a:stretch>
        </p:blipFill>
        <p:spPr>
          <a:xfrm>
            <a:off x="4755185" y="4531766"/>
            <a:ext cx="309067" cy="309067"/>
          </a:xfrm>
          <a:prstGeom prst="rect">
            <a:avLst/>
          </a:prstGeom>
        </p:spPr>
      </p:pic>
      <p:sp>
        <p:nvSpPr>
          <p:cNvPr id="35" name="Text 27"/>
          <p:cNvSpPr txBox="1"/>
          <p:nvPr/>
        </p:nvSpPr>
        <p:spPr>
          <a:xfrm>
            <a:off x="5344058" y="4389120"/>
            <a:ext cx="2326538" cy="594360"/>
          </a:xfrm>
          <a:prstGeom prst="rect">
            <a:avLst/>
          </a:prstGeom>
          <a:noFill/>
          <a:ln/>
        </p:spPr>
        <p:txBody>
          <a:bodyPr wrap="square" lIns="0" tIns="0" rIns="0" bIns="0" rtlCol="0" anchor="ctr"/>
          <a:lstStyle/>
          <a:p>
            <a:pPr indent="0" marL="0">
              <a:buNone/>
            </a:pPr>
            <a:r>
              <a:rPr lang="en-US" sz="1500" b="1" dirty="0">
                <a:solidFill>
                  <a:schemeClr val="tx1"/>
                </a:solidFill>
              </a:rPr>
              <a:t>TDS and fees</a:t>
            </a:r>
            <a:endParaRPr lang="en-US" sz="1500" dirty="0"/>
          </a:p>
        </p:txBody>
      </p:sp>
      <p:sp>
        <p:nvSpPr>
          <p:cNvPr id="36" name="Text 28"/>
          <p:cNvSpPr txBox="1"/>
          <p:nvPr/>
        </p:nvSpPr>
        <p:spPr>
          <a:xfrm>
            <a:off x="4612538" y="5120640"/>
            <a:ext cx="2966618" cy="914400"/>
          </a:xfrm>
          <a:prstGeom prst="rect">
            <a:avLst/>
          </a:prstGeom>
          <a:noFill/>
          <a:ln/>
        </p:spPr>
        <p:txBody>
          <a:bodyPr wrap="square" lIns="0" tIns="0" rIns="0" bIns="0" rtlCol="0" anchor="t"/>
          <a:lstStyle/>
          <a:p>
            <a:pPr indent="0" marL="0">
              <a:buNone/>
            </a:pPr>
            <a:r>
              <a:rPr lang="en-US" sz="1300" dirty="0">
                <a:solidFill>
                  <a:schemeClr val="tx2"/>
                </a:solidFill>
              </a:rPr>
              <a:t>TDS and processing fee are currently 0%, as set by the company. These may change.</a:t>
            </a:r>
            <a:endParaRPr lang="en-US" sz="1300" dirty="0"/>
          </a:p>
        </p:txBody>
      </p:sp>
      <p:sp>
        <p:nvSpPr>
          <p:cNvPr id="37" name="Held amounts card"/>
          <p:cNvSpPr/>
          <p:nvPr/>
        </p:nvSpPr>
        <p:spPr>
          <a:xfrm>
            <a:off x="8127797" y="4160520"/>
            <a:ext cx="3515258" cy="1965960"/>
          </a:xfrm>
          <a:prstGeom prst="roundRect">
            <a:avLst>
              <a:gd name="adj" fmla="val 5581"/>
            </a:avLst>
          </a:prstGeom>
          <a:solidFill>
            <a:schemeClr val="bg2"/>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38" name="Held amounts icon circle"/>
          <p:cNvSpPr/>
          <p:nvPr/>
        </p:nvSpPr>
        <p:spPr>
          <a:xfrm>
            <a:off x="8402117" y="4389120"/>
            <a:ext cx="594360" cy="594360"/>
          </a:xfrm>
          <a:prstGeom prst="ellipse">
            <a:avLst/>
          </a:prstGeom>
          <a:solidFill>
            <a:schemeClr val="accent2"/>
          </a:solidFill>
          <a:ln/>
        </p:spPr>
      </p:sp>
      <p:pic>
        <p:nvPicPr>
          <p:cNvPr id="39" name="Held amounts icon" descr="Held amounts">    </p:cNvPr>
          <p:cNvPicPr>
            <a:picLocks noChangeAspect="1"/>
          </p:cNvPicPr>
          <p:nvPr/>
        </p:nvPicPr>
        <p:blipFill>
          <a:blip r:embed="rId7"/>
          <a:stretch>
            <a:fillRect/>
          </a:stretch>
        </p:blipFill>
        <p:spPr>
          <a:xfrm>
            <a:off x="8544763" y="4531766"/>
            <a:ext cx="309067" cy="309067"/>
          </a:xfrm>
          <a:prstGeom prst="rect">
            <a:avLst/>
          </a:prstGeom>
        </p:spPr>
      </p:pic>
      <p:sp>
        <p:nvSpPr>
          <p:cNvPr id="40" name="Text 31"/>
          <p:cNvSpPr txBox="1"/>
          <p:nvPr/>
        </p:nvSpPr>
        <p:spPr>
          <a:xfrm>
            <a:off x="9133637" y="4389120"/>
            <a:ext cx="2326538" cy="594360"/>
          </a:xfrm>
          <a:prstGeom prst="rect">
            <a:avLst/>
          </a:prstGeom>
          <a:noFill/>
          <a:ln/>
        </p:spPr>
        <p:txBody>
          <a:bodyPr wrap="square" lIns="0" tIns="0" rIns="0" bIns="0" rtlCol="0" anchor="ctr"/>
          <a:lstStyle/>
          <a:p>
            <a:pPr indent="0" marL="0">
              <a:buNone/>
            </a:pPr>
            <a:r>
              <a:rPr lang="en-US" sz="1500" b="1" dirty="0">
                <a:solidFill>
                  <a:schemeClr val="tx1"/>
                </a:solidFill>
              </a:rPr>
              <a:t>Held amounts</a:t>
            </a:r>
            <a:endParaRPr lang="en-US" sz="1500" dirty="0"/>
          </a:p>
        </p:txBody>
      </p:sp>
      <p:sp>
        <p:nvSpPr>
          <p:cNvPr id="41" name="Text 32"/>
          <p:cNvSpPr txBox="1"/>
          <p:nvPr/>
        </p:nvSpPr>
        <p:spPr>
          <a:xfrm>
            <a:off x="8402117" y="5120640"/>
            <a:ext cx="2966618" cy="914400"/>
          </a:xfrm>
          <a:prstGeom prst="rect">
            <a:avLst/>
          </a:prstGeom>
          <a:noFill/>
          <a:ln/>
        </p:spPr>
        <p:txBody>
          <a:bodyPr wrap="square" lIns="0" tIns="0" rIns="0" bIns="0" rtlCol="0" anchor="t"/>
          <a:lstStyle/>
          <a:p>
            <a:pPr indent="0" marL="0">
              <a:buNone/>
            </a:pPr>
            <a:r>
              <a:rPr lang="en-US" sz="1300" dirty="0">
                <a:solidFill>
                  <a:schemeClr val="tx2"/>
                </a:solidFill>
              </a:rPr>
              <a:t>Income held for missing directs or an overdue EMI can't be withdrawn until it is released.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Important to remember</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tx2"/>
                </a:solidFill>
              </a:rPr>
              <a:t>Read these before you join.</a:t>
            </a:r>
            <a:endParaRPr lang="en-US" sz="1600" dirty="0"/>
          </a:p>
        </p:txBody>
      </p:sp>
      <p:sp>
        <p:nvSpPr>
          <p:cNvPr id="4" name="Rule 1 card"/>
          <p:cNvSpPr/>
          <p:nvPr/>
        </p:nvSpPr>
        <p:spPr>
          <a:xfrm>
            <a:off x="548640" y="1691640"/>
            <a:ext cx="5364328" cy="1234440"/>
          </a:xfrm>
          <a:prstGeom prst="roundRect">
            <a:avLst>
              <a:gd name="adj" fmla="val 88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5" name="Rule 1 icon circle"/>
          <p:cNvSpPr/>
          <p:nvPr/>
        </p:nvSpPr>
        <p:spPr>
          <a:xfrm>
            <a:off x="822960" y="1965960"/>
            <a:ext cx="685800" cy="685800"/>
          </a:xfrm>
          <a:prstGeom prst="ellipse">
            <a:avLst/>
          </a:prstGeom>
          <a:solidFill>
            <a:schemeClr val="accent3"/>
          </a:solidFill>
          <a:ln/>
        </p:spPr>
      </p:sp>
      <p:pic>
        <p:nvPicPr>
          <p:cNvPr id="6" name="Rule 1 icon" descr="Rule 1">    </p:cNvPr>
          <p:cNvPicPr>
            <a:picLocks noChangeAspect="1"/>
          </p:cNvPicPr>
          <p:nvPr/>
        </p:nvPicPr>
        <p:blipFill>
          <a:blip r:embed="rId1"/>
          <a:stretch>
            <a:fillRect/>
          </a:stretch>
        </p:blipFill>
        <p:spPr>
          <a:xfrm>
            <a:off x="987552" y="2130552"/>
            <a:ext cx="356616" cy="356616"/>
          </a:xfrm>
          <a:prstGeom prst="rect">
            <a:avLst/>
          </a:prstGeom>
        </p:spPr>
      </p:pic>
      <p:sp>
        <p:nvSpPr>
          <p:cNvPr id="7" name="Text 4"/>
          <p:cNvSpPr txBox="1"/>
          <p:nvPr/>
        </p:nvSpPr>
        <p:spPr>
          <a:xfrm>
            <a:off x="1737360" y="1691640"/>
            <a:ext cx="3901288" cy="1234440"/>
          </a:xfrm>
          <a:prstGeom prst="rect">
            <a:avLst/>
          </a:prstGeom>
          <a:noFill/>
          <a:ln/>
        </p:spPr>
        <p:txBody>
          <a:bodyPr wrap="square" lIns="0" tIns="0" rIns="0" bIns="0" rtlCol="0" anchor="ctr"/>
          <a:lstStyle/>
          <a:p>
            <a:pPr indent="0" marL="0">
              <a:buNone/>
            </a:pPr>
            <a:r>
              <a:rPr lang="en-US" sz="1600" dirty="0">
                <a:solidFill>
                  <a:schemeClr val="tx1"/>
                </a:solidFill>
              </a:rPr>
              <a:t>Your plan benefit is jewellery — not coins, bars or cash.</a:t>
            </a:r>
            <a:endParaRPr lang="en-US" sz="1600" dirty="0"/>
          </a:p>
        </p:txBody>
      </p:sp>
      <p:sp>
        <p:nvSpPr>
          <p:cNvPr id="8" name="Rule 2 card"/>
          <p:cNvSpPr/>
          <p:nvPr/>
        </p:nvSpPr>
        <p:spPr>
          <a:xfrm>
            <a:off x="6278728" y="1691640"/>
            <a:ext cx="5364328" cy="1234440"/>
          </a:xfrm>
          <a:prstGeom prst="roundRect">
            <a:avLst>
              <a:gd name="adj" fmla="val 88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9" name="Rule 2 icon circle"/>
          <p:cNvSpPr/>
          <p:nvPr/>
        </p:nvSpPr>
        <p:spPr>
          <a:xfrm>
            <a:off x="6553048" y="1965960"/>
            <a:ext cx="685800" cy="685800"/>
          </a:xfrm>
          <a:prstGeom prst="ellipse">
            <a:avLst/>
          </a:prstGeom>
          <a:solidFill>
            <a:schemeClr val="accent1"/>
          </a:solidFill>
          <a:ln/>
        </p:spPr>
      </p:sp>
      <p:pic>
        <p:nvPicPr>
          <p:cNvPr id="10" name="Rule 2 icon" descr="Rule 2">    </p:cNvPr>
          <p:cNvPicPr>
            <a:picLocks noChangeAspect="1"/>
          </p:cNvPicPr>
          <p:nvPr/>
        </p:nvPicPr>
        <p:blipFill>
          <a:blip r:embed="rId2"/>
          <a:stretch>
            <a:fillRect/>
          </a:stretch>
        </p:blipFill>
        <p:spPr>
          <a:xfrm>
            <a:off x="6717640" y="2130552"/>
            <a:ext cx="356616" cy="356616"/>
          </a:xfrm>
          <a:prstGeom prst="rect">
            <a:avLst/>
          </a:prstGeom>
        </p:spPr>
      </p:pic>
      <p:sp>
        <p:nvSpPr>
          <p:cNvPr id="11" name="Text 7"/>
          <p:cNvSpPr txBox="1"/>
          <p:nvPr/>
        </p:nvSpPr>
        <p:spPr>
          <a:xfrm>
            <a:off x="7467448" y="1691640"/>
            <a:ext cx="3901288" cy="1234440"/>
          </a:xfrm>
          <a:prstGeom prst="rect">
            <a:avLst/>
          </a:prstGeom>
          <a:noFill/>
          <a:ln/>
        </p:spPr>
        <p:txBody>
          <a:bodyPr wrap="square" lIns="0" tIns="0" rIns="0" bIns="0" rtlCol="0" anchor="ctr"/>
          <a:lstStyle/>
          <a:p>
            <a:pPr indent="0" marL="0">
              <a:buNone/>
            </a:pPr>
            <a:r>
              <a:rPr lang="en-US" sz="1600" dirty="0">
                <a:solidFill>
                  <a:schemeClr val="tx1"/>
                </a:solidFill>
              </a:rPr>
              <a:t>Rewards depend on real team activity. No income is guaranteed.</a:t>
            </a:r>
            <a:endParaRPr lang="en-US" sz="1600" dirty="0"/>
          </a:p>
        </p:txBody>
      </p:sp>
      <p:sp>
        <p:nvSpPr>
          <p:cNvPr id="12" name="Rule 3 card"/>
          <p:cNvSpPr/>
          <p:nvPr/>
        </p:nvSpPr>
        <p:spPr>
          <a:xfrm>
            <a:off x="548640" y="3154680"/>
            <a:ext cx="5364328" cy="1234440"/>
          </a:xfrm>
          <a:prstGeom prst="roundRect">
            <a:avLst>
              <a:gd name="adj" fmla="val 88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3" name="Rule 3 icon circle"/>
          <p:cNvSpPr/>
          <p:nvPr/>
        </p:nvSpPr>
        <p:spPr>
          <a:xfrm>
            <a:off x="822960" y="3429000"/>
            <a:ext cx="685800" cy="685800"/>
          </a:xfrm>
          <a:prstGeom prst="ellipse">
            <a:avLst/>
          </a:prstGeom>
          <a:solidFill>
            <a:schemeClr val="accent2"/>
          </a:solidFill>
          <a:ln/>
        </p:spPr>
      </p:sp>
      <p:pic>
        <p:nvPicPr>
          <p:cNvPr id="14" name="Rule 3 icon" descr="Rule 3">    </p:cNvPr>
          <p:cNvPicPr>
            <a:picLocks noChangeAspect="1"/>
          </p:cNvPicPr>
          <p:nvPr/>
        </p:nvPicPr>
        <p:blipFill>
          <a:blip r:embed="rId3"/>
          <a:stretch>
            <a:fillRect/>
          </a:stretch>
        </p:blipFill>
        <p:spPr>
          <a:xfrm>
            <a:off x="987552" y="3593592"/>
            <a:ext cx="356616" cy="356616"/>
          </a:xfrm>
          <a:prstGeom prst="rect">
            <a:avLst/>
          </a:prstGeom>
        </p:spPr>
      </p:pic>
      <p:sp>
        <p:nvSpPr>
          <p:cNvPr id="15" name="Text 10"/>
          <p:cNvSpPr txBox="1"/>
          <p:nvPr/>
        </p:nvSpPr>
        <p:spPr>
          <a:xfrm>
            <a:off x="1737360" y="3154680"/>
            <a:ext cx="3901288" cy="1234440"/>
          </a:xfrm>
          <a:prstGeom prst="rect">
            <a:avLst/>
          </a:prstGeom>
          <a:noFill/>
          <a:ln/>
        </p:spPr>
        <p:txBody>
          <a:bodyPr wrap="square" lIns="0" tIns="0" rIns="0" bIns="0" rtlCol="0" anchor="ctr"/>
          <a:lstStyle/>
          <a:p>
            <a:pPr indent="0" marL="0">
              <a:buNone/>
            </a:pPr>
            <a:r>
              <a:rPr lang="en-US" sz="1600" dirty="0">
                <a:solidFill>
                  <a:schemeClr val="tx1"/>
                </a:solidFill>
              </a:rPr>
              <a:t>Pay EMIs on time — an overdue EMI holds all your new earnings.</a:t>
            </a:r>
            <a:endParaRPr lang="en-US" sz="1600" dirty="0"/>
          </a:p>
        </p:txBody>
      </p:sp>
      <p:sp>
        <p:nvSpPr>
          <p:cNvPr id="16" name="Rule 4 card"/>
          <p:cNvSpPr/>
          <p:nvPr/>
        </p:nvSpPr>
        <p:spPr>
          <a:xfrm>
            <a:off x="6278728" y="3154680"/>
            <a:ext cx="5364328" cy="1234440"/>
          </a:xfrm>
          <a:prstGeom prst="roundRect">
            <a:avLst>
              <a:gd name="adj" fmla="val 88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17" name="Rule 4 icon circle"/>
          <p:cNvSpPr/>
          <p:nvPr/>
        </p:nvSpPr>
        <p:spPr>
          <a:xfrm>
            <a:off x="6553048" y="3429000"/>
            <a:ext cx="685800" cy="685800"/>
          </a:xfrm>
          <a:prstGeom prst="ellipse">
            <a:avLst/>
          </a:prstGeom>
          <a:solidFill>
            <a:schemeClr val="accent4"/>
          </a:solidFill>
          <a:ln/>
        </p:spPr>
      </p:sp>
      <p:pic>
        <p:nvPicPr>
          <p:cNvPr id="18" name="Rule 4 icon" descr="Rule 4">    </p:cNvPr>
          <p:cNvPicPr>
            <a:picLocks noChangeAspect="1"/>
          </p:cNvPicPr>
          <p:nvPr/>
        </p:nvPicPr>
        <p:blipFill>
          <a:blip r:embed="rId4"/>
          <a:stretch>
            <a:fillRect/>
          </a:stretch>
        </p:blipFill>
        <p:spPr>
          <a:xfrm>
            <a:off x="6717640" y="3593592"/>
            <a:ext cx="356616" cy="356616"/>
          </a:xfrm>
          <a:prstGeom prst="rect">
            <a:avLst/>
          </a:prstGeom>
        </p:spPr>
      </p:pic>
      <p:sp>
        <p:nvSpPr>
          <p:cNvPr id="19" name="Text 13"/>
          <p:cNvSpPr txBox="1"/>
          <p:nvPr/>
        </p:nvSpPr>
        <p:spPr>
          <a:xfrm>
            <a:off x="7467448" y="3154680"/>
            <a:ext cx="3901288" cy="1234440"/>
          </a:xfrm>
          <a:prstGeom prst="rect">
            <a:avLst/>
          </a:prstGeom>
          <a:noFill/>
          <a:ln/>
        </p:spPr>
        <p:txBody>
          <a:bodyPr wrap="square" lIns="0" tIns="0" rIns="0" bIns="0" rtlCol="0" anchor="ctr"/>
          <a:lstStyle/>
          <a:p>
            <a:pPr indent="0" marL="0">
              <a:buNone/>
            </a:pPr>
            <a:r>
              <a:rPr lang="en-US" sz="1600" dirty="0">
                <a:solidFill>
                  <a:schemeClr val="tx1"/>
                </a:solidFill>
              </a:rPr>
              <a:t>Keep your payment Ref ID and screenshot until the payment is approved.</a:t>
            </a:r>
            <a:endParaRPr lang="en-US" sz="1600" dirty="0"/>
          </a:p>
        </p:txBody>
      </p:sp>
      <p:sp>
        <p:nvSpPr>
          <p:cNvPr id="20" name="Rule 5 card"/>
          <p:cNvSpPr/>
          <p:nvPr/>
        </p:nvSpPr>
        <p:spPr>
          <a:xfrm>
            <a:off x="548640" y="4617720"/>
            <a:ext cx="5364328" cy="1234440"/>
          </a:xfrm>
          <a:prstGeom prst="roundRect">
            <a:avLst>
              <a:gd name="adj" fmla="val 88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1" name="Rule 5 icon circle"/>
          <p:cNvSpPr/>
          <p:nvPr/>
        </p:nvSpPr>
        <p:spPr>
          <a:xfrm>
            <a:off x="822960" y="4892040"/>
            <a:ext cx="685800" cy="685800"/>
          </a:xfrm>
          <a:prstGeom prst="ellipse">
            <a:avLst/>
          </a:prstGeom>
          <a:solidFill>
            <a:schemeClr val="accent6"/>
          </a:solidFill>
          <a:ln/>
        </p:spPr>
      </p:sp>
      <p:pic>
        <p:nvPicPr>
          <p:cNvPr id="22" name="Rule 5 icon" descr="Rule 5">    </p:cNvPr>
          <p:cNvPicPr>
            <a:picLocks noChangeAspect="1"/>
          </p:cNvPicPr>
          <p:nvPr/>
        </p:nvPicPr>
        <p:blipFill>
          <a:blip r:embed="rId5"/>
          <a:stretch>
            <a:fillRect/>
          </a:stretch>
        </p:blipFill>
        <p:spPr>
          <a:xfrm>
            <a:off x="987552" y="5056632"/>
            <a:ext cx="356616" cy="356616"/>
          </a:xfrm>
          <a:prstGeom prst="rect">
            <a:avLst/>
          </a:prstGeom>
        </p:spPr>
      </p:pic>
      <p:sp>
        <p:nvSpPr>
          <p:cNvPr id="23" name="Text 16"/>
          <p:cNvSpPr txBox="1"/>
          <p:nvPr/>
        </p:nvSpPr>
        <p:spPr>
          <a:xfrm>
            <a:off x="1737360" y="4617720"/>
            <a:ext cx="3901288" cy="1234440"/>
          </a:xfrm>
          <a:prstGeom prst="rect">
            <a:avLst/>
          </a:prstGeom>
          <a:noFill/>
          <a:ln/>
        </p:spPr>
        <p:txBody>
          <a:bodyPr wrap="square" lIns="0" tIns="0" rIns="0" bIns="0" rtlCol="0" anchor="ctr"/>
          <a:lstStyle/>
          <a:p>
            <a:pPr indent="0" marL="0">
              <a:buNone/>
            </a:pPr>
            <a:r>
              <a:rPr lang="en-US" sz="1600" dirty="0">
                <a:solidFill>
                  <a:schemeClr val="tx1"/>
                </a:solidFill>
              </a:rPr>
              <a:t>Sponsor (who introduced you) and Left/Right placement are separate.</a:t>
            </a:r>
            <a:endParaRPr lang="en-US" sz="1600" dirty="0"/>
          </a:p>
        </p:txBody>
      </p:sp>
      <p:sp>
        <p:nvSpPr>
          <p:cNvPr id="24" name="Rule 6 card"/>
          <p:cNvSpPr/>
          <p:nvPr/>
        </p:nvSpPr>
        <p:spPr>
          <a:xfrm>
            <a:off x="6278728" y="4617720"/>
            <a:ext cx="5364328" cy="1234440"/>
          </a:xfrm>
          <a:prstGeom prst="roundRect">
            <a:avLst>
              <a:gd name="adj" fmla="val 8889"/>
            </a:avLst>
          </a:prstGeom>
          <a:solidFill>
            <a:schemeClr val="bg1"/>
          </a:solidFill>
          <a:ln w="9525">
            <a:solidFill>
              <a:srgbClr val="E2E8F0"/>
            </a:solidFill>
            <a:prstDash val="solid"/>
          </a:ln>
          <a:effectLst>
            <a:outerShdw sx="100000" sy="100000" kx="0" ky="0" algn="bl" rotWithShape="0" blurRad="101600" dist="25400" dir="5400000">
              <a:srgbClr val="1E1B4B">
                <a:alpha val="12000"/>
              </a:srgbClr>
            </a:outerShdw>
          </a:effectLst>
        </p:spPr>
      </p:sp>
      <p:sp>
        <p:nvSpPr>
          <p:cNvPr id="25" name="Rule 6 icon circle"/>
          <p:cNvSpPr/>
          <p:nvPr/>
        </p:nvSpPr>
        <p:spPr>
          <a:xfrm>
            <a:off x="6553048" y="4892040"/>
            <a:ext cx="685800" cy="685800"/>
          </a:xfrm>
          <a:prstGeom prst="ellipse">
            <a:avLst/>
          </a:prstGeom>
          <a:solidFill>
            <a:schemeClr val="accent5"/>
          </a:solidFill>
          <a:ln/>
        </p:spPr>
      </p:sp>
      <p:pic>
        <p:nvPicPr>
          <p:cNvPr id="26" name="Rule 6 icon" descr="Rule 6">    </p:cNvPr>
          <p:cNvPicPr>
            <a:picLocks noChangeAspect="1"/>
          </p:cNvPicPr>
          <p:nvPr/>
        </p:nvPicPr>
        <p:blipFill>
          <a:blip r:embed="rId6"/>
          <a:stretch>
            <a:fillRect/>
          </a:stretch>
        </p:blipFill>
        <p:spPr>
          <a:xfrm>
            <a:off x="6717640" y="5056632"/>
            <a:ext cx="356616" cy="356616"/>
          </a:xfrm>
          <a:prstGeom prst="rect">
            <a:avLst/>
          </a:prstGeom>
        </p:spPr>
      </p:pic>
      <p:sp>
        <p:nvSpPr>
          <p:cNvPr id="27" name="Text 19"/>
          <p:cNvSpPr txBox="1"/>
          <p:nvPr/>
        </p:nvSpPr>
        <p:spPr>
          <a:xfrm>
            <a:off x="7467448" y="4617720"/>
            <a:ext cx="3901288" cy="1234440"/>
          </a:xfrm>
          <a:prstGeom prst="rect">
            <a:avLst/>
          </a:prstGeom>
          <a:noFill/>
          <a:ln/>
        </p:spPr>
        <p:txBody>
          <a:bodyPr wrap="square" lIns="0" tIns="0" rIns="0" bIns="0" rtlCol="0" anchor="ctr"/>
          <a:lstStyle/>
          <a:p>
            <a:pPr indent="0" marL="0">
              <a:buNone/>
            </a:pPr>
            <a:r>
              <a:rPr lang="en-US" sz="1600" dirty="0">
                <a:solidFill>
                  <a:schemeClr val="tx1"/>
                </a:solidFill>
              </a:rPr>
              <a:t>As of 02-10-2026, these figures are current. The company may update them.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Decor pink circle"/>
          <p:cNvSpPr/>
          <p:nvPr/>
        </p:nvSpPr>
        <p:spPr>
          <a:xfrm>
            <a:off x="7863840" y="-1280160"/>
            <a:ext cx="5486400" cy="5486400"/>
          </a:xfrm>
          <a:prstGeom prst="ellipse">
            <a:avLst/>
          </a:prstGeom>
          <a:solidFill>
            <a:schemeClr val="accent2">
              <a:alpha val="65000"/>
            </a:schemeClr>
          </a:solidFill>
          <a:ln/>
        </p:spPr>
      </p:sp>
      <p:sp>
        <p:nvSpPr>
          <p:cNvPr id="3" name="Decor gold circle"/>
          <p:cNvSpPr/>
          <p:nvPr/>
        </p:nvSpPr>
        <p:spPr>
          <a:xfrm>
            <a:off x="9509760" y="3108960"/>
            <a:ext cx="4023360" cy="4023360"/>
          </a:xfrm>
          <a:prstGeom prst="ellipse">
            <a:avLst/>
          </a:prstGeom>
          <a:solidFill>
            <a:schemeClr val="accent3">
              <a:alpha val="75000"/>
            </a:schemeClr>
          </a:solidFill>
          <a:ln/>
        </p:spPr>
      </p:sp>
      <p:sp>
        <p:nvSpPr>
          <p:cNvPr id="4" name="Decor violet circle"/>
          <p:cNvSpPr/>
          <p:nvPr/>
        </p:nvSpPr>
        <p:spPr>
          <a:xfrm>
            <a:off x="7223760" y="4206240"/>
            <a:ext cx="2194560" cy="2194560"/>
          </a:xfrm>
          <a:prstGeom prst="ellipse">
            <a:avLst/>
          </a:prstGeom>
          <a:solidFill>
            <a:schemeClr val="accent1">
              <a:alpha val="85000"/>
            </a:schemeClr>
          </a:solidFill>
          <a:ln/>
        </p:spPr>
      </p:sp>
      <p:pic>
        <p:nvPicPr>
          <p:cNvPr id="5" name="GoldWave logo" descr="GoldWave logo">    </p:cNvPr>
          <p:cNvPicPr>
            <a:picLocks noChangeAspect="1"/>
          </p:cNvPicPr>
          <p:nvPr/>
        </p:nvPicPr>
        <p:blipFill>
          <a:blip r:embed="rId1"/>
          <a:stretch>
            <a:fillRect/>
          </a:stretch>
        </p:blipFill>
        <p:spPr>
          <a:xfrm>
            <a:off x="548640" y="548640"/>
            <a:ext cx="1005840" cy="1005840"/>
          </a:xfrm>
          <a:prstGeom prst="ellipse">
            <a:avLst/>
          </a:prstGeom>
        </p:spPr>
      </p:pic>
      <p:sp>
        <p:nvSpPr>
          <p:cNvPr id="6" name="Brand name"/>
          <p:cNvSpPr txBox="1"/>
          <p:nvPr/>
        </p:nvSpPr>
        <p:spPr>
          <a:xfrm>
            <a:off x="1737360" y="777240"/>
            <a:ext cx="3657600" cy="548640"/>
          </a:xfrm>
          <a:prstGeom prst="rect">
            <a:avLst/>
          </a:prstGeom>
          <a:noFill/>
          <a:ln/>
        </p:spPr>
        <p:txBody>
          <a:bodyPr wrap="square" lIns="0" tIns="0" rIns="0" bIns="0" rtlCol="0" anchor="t"/>
          <a:lstStyle/>
          <a:p>
            <a:pPr indent="0" marL="0">
              <a:buNone/>
            </a:pPr>
            <a:r>
              <a:rPr lang="en-US" sz="2800" b="1" dirty="0">
                <a:solidFill>
                  <a:schemeClr val="accent3"/>
                </a:solidFill>
              </a:rPr>
              <a:t>GoldWave</a:t>
            </a:r>
            <a:endParaRPr lang="en-US" sz="2800" dirty="0"/>
          </a:p>
        </p:txBody>
      </p:sp>
      <p:sp>
        <p:nvSpPr>
          <p:cNvPr id="7" name="Text 0"/>
          <p:cNvSpPr/>
          <p:nvPr>
            <p:ph idx="100" type="title" hasCustomPrompt="1"/>
          </p:nvPr>
        </p:nvSpPr>
        <p:spPr>
          <a:xfrm>
            <a:off x="548640" y="2148840"/>
            <a:ext cx="6766560" cy="1737360"/>
          </a:xfrm>
          <a:prstGeom prst="rect">
            <a:avLst/>
          </a:prstGeom>
          <a:noFill/>
          <a:ln/>
        </p:spPr>
        <p:txBody>
          <a:bodyPr wrap="square" lIns="0" tIns="0" rIns="0" bIns="0" rtlCol="0" anchor="b"/>
          <a:lstStyle/>
          <a:p>
            <a:pPr algn="l" indent="0" marL="0">
              <a:buNone/>
            </a:pPr>
            <a:r>
              <a:rPr lang="en-US" sz="4600" b="1" dirty="0">
                <a:solidFill>
                  <a:schemeClr val="bg1"/>
                </a:solidFill>
              </a:rPr>
              <a:t>Welcome to GoldWave!</a:t>
            </a:r>
            <a:endParaRPr lang="en-US" sz="4600" dirty="0"/>
          </a:p>
        </p:txBody>
      </p:sp>
      <p:sp>
        <p:nvSpPr>
          <p:cNvPr id="8" name="Text 0"/>
          <p:cNvSpPr/>
          <p:nvPr>
            <p:ph idx="101" type="body" hasCustomPrompt="1"/>
          </p:nvPr>
        </p:nvSpPr>
        <p:spPr>
          <a:xfrm>
            <a:off x="548640" y="4023360"/>
            <a:ext cx="6400800" cy="914400"/>
          </a:xfrm>
          <a:prstGeom prst="rect">
            <a:avLst/>
          </a:prstGeom>
          <a:noFill/>
          <a:ln/>
        </p:spPr>
        <p:txBody>
          <a:bodyPr wrap="square" lIns="0" tIns="0" rIns="0" bIns="0" rtlCol="0" anchor="t"/>
          <a:lstStyle/>
          <a:p>
            <a:pPr indent="0" marL="0">
              <a:buNone/>
            </a:pPr>
            <a:r>
              <a:rPr lang="en-US" sz="2000" dirty="0">
                <a:solidFill>
                  <a:srgbClr val="DDD6FE"/>
                </a:solidFill>
              </a:rPr>
              <a:t>Questions? Talk to your sponsor, visit any GoldWave store, or use the contact details on our website.</a:t>
            </a:r>
            <a:endParaRPr lang="en-US" sz="2000" dirty="0"/>
          </a:p>
        </p:txBody>
      </p:sp>
    </p:spTree>
  </p:cSld>
  <p:clrMapOvr>
    <a:masterClrMapping/>
  </p:clrMapOvr>
</p:sld>
</file>

<file path=ppt/theme/theme1.xml><?xml version="1.0" encoding="utf-8"?>
<a:theme xmlns:a="http://schemas.openxmlformats.org/drawingml/2006/main" name="GoldWave">
  <a:themeElements>
    <a:clrScheme name="GoldWave">
      <a:dk1>
        <a:srgbClr val="1E1B4B"/>
      </a:dk1>
      <a:lt1>
        <a:srgbClr val="FFFFFF"/>
      </a:lt1>
      <a:dk2>
        <a:srgbClr val="475569"/>
      </a:dk2>
      <a:lt2>
        <a:srgbClr val="F5F3FF"/>
      </a:lt2>
      <a:accent1>
        <a:srgbClr val="7C3AED"/>
      </a:accent1>
      <a:accent2>
        <a:srgbClr val="DB2777"/>
      </a:accent2>
      <a:accent3>
        <a:srgbClr val="F59E0B"/>
      </a:accent3>
      <a:accent4>
        <a:srgbClr val="0D9488"/>
      </a:accent4>
      <a:accent5>
        <a:srgbClr val="F97316"/>
      </a:accent5>
      <a:accent6>
        <a:srgbClr val="4F46E5"/>
      </a:accent6>
      <a:hlink>
        <a:srgbClr val="7C3AED"/>
      </a:hlink>
      <a:folHlink>
        <a:srgbClr val="6D28D9"/>
      </a:folHlink>
    </a:clrScheme>
    <a:fontScheme name="GoldWav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GoldWave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GoldWave — Plan Guide for New Members</dc:title>
  <dc:subject>PptxGenJS Presentation</dc:subject>
  <dc:creator>GoldWave</dc:creator>
  <cp:lastModifiedBy>GoldWave</cp:lastModifiedBy>
  <cp:revision>1</cp:revision>
  <dcterms:created xsi:type="dcterms:W3CDTF">2026-10-02T09:56:28Z</dcterms:created>
  <dcterms:modified xsi:type="dcterms:W3CDTF">2026-10-02T09:56:28Z</dcterms:modified>
</cp:coreProperties>
</file>